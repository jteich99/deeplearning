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351" r:id="rId5"/>
    <p:sldId id="353" r:id="rId6"/>
    <p:sldId id="354" r:id="rId7"/>
    <p:sldId id="276" r:id="rId8"/>
    <p:sldId id="259" r:id="rId9"/>
    <p:sldId id="260" r:id="rId10"/>
    <p:sldId id="262" r:id="rId11"/>
    <p:sldId id="263" r:id="rId12"/>
    <p:sldId id="261" r:id="rId13"/>
    <p:sldId id="264" r:id="rId14"/>
    <p:sldId id="355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352" r:id="rId23"/>
    <p:sldId id="272" r:id="rId24"/>
    <p:sldId id="273" r:id="rId25"/>
    <p:sldId id="274" r:id="rId2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739" y="40893"/>
            <a:ext cx="305371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9984" y="4983378"/>
            <a:ext cx="1767459" cy="870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89984" y="4983378"/>
            <a:ext cx="1767459" cy="8707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12"/>
            <a:ext cx="9144000" cy="469900"/>
          </a:xfrm>
          <a:custGeom>
            <a:avLst/>
            <a:gdLst/>
            <a:ahLst/>
            <a:cxnLst/>
            <a:rect l="l" t="t" r="r" b="b"/>
            <a:pathLst>
              <a:path w="9144000" h="469900">
                <a:moveTo>
                  <a:pt x="9144000" y="0"/>
                </a:moveTo>
                <a:lnTo>
                  <a:pt x="0" y="0"/>
                </a:lnTo>
                <a:lnTo>
                  <a:pt x="0" y="469506"/>
                </a:lnTo>
                <a:lnTo>
                  <a:pt x="9144000" y="469506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2"/>
            <a:ext cx="9144000" cy="469900"/>
          </a:xfrm>
          <a:custGeom>
            <a:avLst/>
            <a:gdLst/>
            <a:ahLst/>
            <a:cxnLst/>
            <a:rect l="l" t="t" r="r" b="b"/>
            <a:pathLst>
              <a:path w="9144000" h="469900">
                <a:moveTo>
                  <a:pt x="0" y="469506"/>
                </a:moveTo>
                <a:lnTo>
                  <a:pt x="9144000" y="469506"/>
                </a:lnTo>
                <a:lnTo>
                  <a:pt x="9144000" y="0"/>
                </a:lnTo>
                <a:lnTo>
                  <a:pt x="0" y="0"/>
                </a:lnTo>
                <a:lnTo>
                  <a:pt x="0" y="469506"/>
                </a:lnTo>
                <a:close/>
              </a:path>
            </a:pathLst>
          </a:custGeom>
          <a:ln w="9525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40893"/>
            <a:ext cx="487362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8639" y="1808226"/>
            <a:ext cx="7344409" cy="1880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image" Target="../media/image81.png"/><Relationship Id="rId21" Type="http://schemas.openxmlformats.org/officeDocument/2006/relationships/image" Target="../media/image99.png"/><Relationship Id="rId7" Type="http://schemas.openxmlformats.org/officeDocument/2006/relationships/image" Target="../media/image12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image" Target="../media/image80.png"/><Relationship Id="rId16" Type="http://schemas.openxmlformats.org/officeDocument/2006/relationships/image" Target="../media/image94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89.png"/><Relationship Id="rId5" Type="http://schemas.openxmlformats.org/officeDocument/2006/relationships/image" Target="../media/image10.png"/><Relationship Id="rId15" Type="http://schemas.openxmlformats.org/officeDocument/2006/relationships/image" Target="../media/image93.png"/><Relationship Id="rId23" Type="http://schemas.openxmlformats.org/officeDocument/2006/relationships/image" Target="../media/image101.png"/><Relationship Id="rId10" Type="http://schemas.openxmlformats.org/officeDocument/2006/relationships/image" Target="../media/image88.png"/><Relationship Id="rId19" Type="http://schemas.openxmlformats.org/officeDocument/2006/relationships/image" Target="../media/image97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92.png"/><Relationship Id="rId22" Type="http://schemas.openxmlformats.org/officeDocument/2006/relationships/image" Target="../media/image10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jpg"/><Relationship Id="rId7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8.png"/><Relationship Id="rId4" Type="http://schemas.openxmlformats.org/officeDocument/2006/relationships/image" Target="../media/image30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2.pn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0.png"/><Relationship Id="rId10" Type="http://schemas.openxmlformats.org/officeDocument/2006/relationships/image" Target="../media/image46.png"/><Relationship Id="rId4" Type="http://schemas.openxmlformats.org/officeDocument/2006/relationships/image" Target="../media/image43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jp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2.png"/><Relationship Id="rId7" Type="http://schemas.openxmlformats.org/officeDocument/2006/relationships/image" Target="../media/image5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2.png"/><Relationship Id="rId7" Type="http://schemas.openxmlformats.org/officeDocument/2006/relationships/image" Target="../media/image6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5.png"/><Relationship Id="rId7" Type="http://schemas.openxmlformats.org/officeDocument/2006/relationships/image" Target="../media/image6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7.png"/><Relationship Id="rId10" Type="http://schemas.openxmlformats.org/officeDocument/2006/relationships/image" Target="../media/image69.png"/><Relationship Id="rId4" Type="http://schemas.openxmlformats.org/officeDocument/2006/relationships/image" Target="../media/image6.png"/><Relationship Id="rId9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5.png"/><Relationship Id="rId7" Type="http://schemas.openxmlformats.org/officeDocument/2006/relationships/image" Target="../media/image7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246364" y="4245876"/>
            <a:ext cx="897890" cy="897890"/>
            <a:chOff x="8246364" y="4245876"/>
            <a:chExt cx="897890" cy="897890"/>
          </a:xfrm>
        </p:grpSpPr>
        <p:sp>
          <p:nvSpPr>
            <p:cNvPr id="5" name="object 5"/>
            <p:cNvSpPr/>
            <p:nvPr/>
          </p:nvSpPr>
          <p:spPr>
            <a:xfrm>
              <a:off x="8246364" y="4245927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897635" y="0"/>
                  </a:moveTo>
                  <a:lnTo>
                    <a:pt x="0" y="897596"/>
                  </a:lnTo>
                  <a:lnTo>
                    <a:pt x="897635" y="897596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46364" y="4245876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897635" y="0"/>
                  </a:moveTo>
                  <a:lnTo>
                    <a:pt x="149605" y="0"/>
                  </a:lnTo>
                  <a:lnTo>
                    <a:pt x="102347" y="7626"/>
                  </a:lnTo>
                  <a:lnTo>
                    <a:pt x="61283" y="28864"/>
                  </a:lnTo>
                  <a:lnTo>
                    <a:pt x="28886" y="61250"/>
                  </a:lnTo>
                  <a:lnTo>
                    <a:pt x="7634" y="102318"/>
                  </a:lnTo>
                  <a:lnTo>
                    <a:pt x="0" y="149605"/>
                  </a:lnTo>
                  <a:lnTo>
                    <a:pt x="0" y="897598"/>
                  </a:lnTo>
                  <a:lnTo>
                    <a:pt x="897635" y="897598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FFFFF">
                <a:alpha val="6784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53083" y="98008"/>
            <a:ext cx="5897245" cy="2099310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64"/>
              </a:spcBef>
            </a:pPr>
            <a:r>
              <a:rPr sz="4800" b="0" dirty="0">
                <a:latin typeface="Roboto"/>
                <a:cs typeface="Roboto"/>
              </a:rPr>
              <a:t>Aprendizaje</a:t>
            </a:r>
            <a:r>
              <a:rPr sz="4800" b="0" spc="-270" dirty="0">
                <a:latin typeface="Roboto"/>
                <a:cs typeface="Roboto"/>
              </a:rPr>
              <a:t> </a:t>
            </a:r>
            <a:r>
              <a:rPr sz="4800" b="0" spc="-10" dirty="0">
                <a:latin typeface="Roboto"/>
                <a:cs typeface="Roboto"/>
              </a:rPr>
              <a:t>Profundo</a:t>
            </a:r>
            <a:endParaRPr sz="4800">
              <a:latin typeface="Roboto"/>
              <a:cs typeface="Roboto"/>
            </a:endParaRPr>
          </a:p>
          <a:p>
            <a:pPr marL="290195" marR="283210" indent="2540" algn="ctr">
              <a:lnSpc>
                <a:spcPct val="100000"/>
              </a:lnSpc>
              <a:spcBef>
                <a:spcPts val="1080"/>
              </a:spcBef>
            </a:pPr>
            <a:r>
              <a:rPr sz="3300" b="0" spc="-10" dirty="0">
                <a:latin typeface="Roboto"/>
                <a:cs typeface="Roboto"/>
              </a:rPr>
              <a:t>Facultad</a:t>
            </a:r>
            <a:r>
              <a:rPr sz="3300" b="0" spc="-100" dirty="0">
                <a:latin typeface="Roboto"/>
                <a:cs typeface="Roboto"/>
              </a:rPr>
              <a:t> </a:t>
            </a:r>
            <a:r>
              <a:rPr sz="3300" b="0" dirty="0">
                <a:latin typeface="Roboto"/>
                <a:cs typeface="Roboto"/>
              </a:rPr>
              <a:t>de</a:t>
            </a:r>
            <a:r>
              <a:rPr sz="3300" b="0" spc="-80" dirty="0">
                <a:latin typeface="Roboto"/>
                <a:cs typeface="Roboto"/>
              </a:rPr>
              <a:t> </a:t>
            </a:r>
            <a:r>
              <a:rPr sz="3300" b="0" spc="-10" dirty="0">
                <a:latin typeface="Roboto"/>
                <a:cs typeface="Roboto"/>
              </a:rPr>
              <a:t>Ingeniería </a:t>
            </a:r>
            <a:r>
              <a:rPr sz="3300" b="0" spc="-35" dirty="0">
                <a:latin typeface="Roboto"/>
                <a:cs typeface="Roboto"/>
              </a:rPr>
              <a:t>Universidad</a:t>
            </a:r>
            <a:r>
              <a:rPr sz="3300" b="0" spc="-114" dirty="0">
                <a:latin typeface="Roboto"/>
                <a:cs typeface="Roboto"/>
              </a:rPr>
              <a:t> </a:t>
            </a:r>
            <a:r>
              <a:rPr sz="3300" b="0" dirty="0">
                <a:latin typeface="Roboto"/>
                <a:cs typeface="Roboto"/>
              </a:rPr>
              <a:t>de</a:t>
            </a:r>
            <a:r>
              <a:rPr sz="3300" b="0" spc="-114" dirty="0">
                <a:latin typeface="Roboto"/>
                <a:cs typeface="Roboto"/>
              </a:rPr>
              <a:t> </a:t>
            </a:r>
            <a:r>
              <a:rPr sz="3300" b="0" spc="-10" dirty="0">
                <a:latin typeface="Roboto"/>
                <a:cs typeface="Roboto"/>
              </a:rPr>
              <a:t>Buenos</a:t>
            </a:r>
            <a:r>
              <a:rPr sz="3300" b="0" spc="-120" dirty="0">
                <a:latin typeface="Roboto"/>
                <a:cs typeface="Roboto"/>
              </a:rPr>
              <a:t> </a:t>
            </a:r>
            <a:r>
              <a:rPr sz="3300" b="0" spc="-10" dirty="0">
                <a:latin typeface="Roboto"/>
                <a:cs typeface="Roboto"/>
              </a:rPr>
              <a:t>Aires</a:t>
            </a:r>
            <a:endParaRPr sz="330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9088" y="2371725"/>
            <a:ext cx="1385951" cy="1385951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CF989B8A-64C9-5902-AAD1-CD2964BA6076}"/>
              </a:ext>
            </a:extLst>
          </p:cNvPr>
          <p:cNvSpPr txBox="1"/>
          <p:nvPr/>
        </p:nvSpPr>
        <p:spPr>
          <a:xfrm>
            <a:off x="380183" y="3876295"/>
            <a:ext cx="4136390" cy="9611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    Profesores:</a:t>
            </a:r>
            <a:endParaRPr lang="es-PE" sz="2200" spc="-10" dirty="0">
              <a:latin typeface="Roboto"/>
              <a:cs typeface="Roboto"/>
            </a:endParaRPr>
          </a:p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		</a:t>
            </a:r>
            <a:r>
              <a:rPr lang="es-PE" sz="2200" noProof="0" dirty="0">
                <a:solidFill>
                  <a:srgbClr val="FFFFFF"/>
                </a:solidFill>
                <a:latin typeface="Roboto"/>
                <a:cs typeface="Roboto"/>
              </a:rPr>
              <a:t>Marcos</a:t>
            </a:r>
            <a:r>
              <a:rPr lang="es-PE" sz="2200" spc="-80" noProof="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Maillot</a:t>
            </a:r>
          </a:p>
          <a:p>
            <a:pPr marL="12700">
              <a:lnSpc>
                <a:spcPts val="2375"/>
              </a:lnSpc>
              <a:spcBef>
                <a:spcPts val="95"/>
              </a:spcBef>
            </a:pPr>
            <a:r>
              <a:rPr lang="es-PE" sz="2200" spc="-10" dirty="0">
                <a:solidFill>
                  <a:srgbClr val="FFFFFF"/>
                </a:solidFill>
                <a:latin typeface="Roboto"/>
                <a:cs typeface="Roboto"/>
              </a:rPr>
              <a:t>		</a:t>
            </a:r>
            <a:r>
              <a:rPr lang="es-PE" sz="2200" noProof="0" dirty="0">
                <a:solidFill>
                  <a:srgbClr val="FFFFFF"/>
                </a:solidFill>
                <a:latin typeface="Roboto"/>
                <a:cs typeface="Roboto"/>
              </a:rPr>
              <a:t>Gerardo</a:t>
            </a:r>
            <a:r>
              <a:rPr lang="es-PE" sz="2200" spc="-114" noProof="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es-PE" sz="2200" spc="-10" noProof="0" dirty="0">
                <a:solidFill>
                  <a:srgbClr val="FFFFFF"/>
                </a:solidFill>
                <a:latin typeface="Roboto"/>
                <a:cs typeface="Roboto"/>
              </a:rPr>
              <a:t>Vilcamiza</a:t>
            </a:r>
            <a:endParaRPr lang="es-PE" sz="2200" noProof="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9720" y="4458106"/>
            <a:ext cx="28238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100"/>
              </a:spcBef>
              <a:buFont typeface="Roboto"/>
              <a:buChar char="-"/>
              <a:tabLst>
                <a:tab pos="190500" algn="l"/>
              </a:tabLst>
            </a:pPr>
            <a:r>
              <a:rPr sz="1400" dirty="0">
                <a:latin typeface="Roboto"/>
                <a:cs typeface="Roboto"/>
              </a:rPr>
              <a:t>GD,</a:t>
            </a:r>
            <a:r>
              <a:rPr sz="1400" spc="-4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SGD,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spc="-70" dirty="0">
                <a:latin typeface="Roboto"/>
                <a:cs typeface="Roboto"/>
              </a:rPr>
              <a:t>Mini-</a:t>
            </a:r>
            <a:r>
              <a:rPr sz="1400" spc="-20" dirty="0">
                <a:latin typeface="Roboto"/>
                <a:cs typeface="Roboto"/>
              </a:rPr>
              <a:t>Batch</a:t>
            </a:r>
            <a:endParaRPr sz="1400">
              <a:latin typeface="Roboto"/>
              <a:cs typeface="Roboto"/>
            </a:endParaRPr>
          </a:p>
          <a:p>
            <a:pPr marL="190500" indent="-177800">
              <a:lnSpc>
                <a:spcPct val="100000"/>
              </a:lnSpc>
              <a:spcBef>
                <a:spcPts val="5"/>
              </a:spcBef>
              <a:buChar char="-"/>
              <a:tabLst>
                <a:tab pos="190500" algn="l"/>
              </a:tabLst>
            </a:pPr>
            <a:r>
              <a:rPr sz="1400" dirty="0">
                <a:latin typeface="Roboto"/>
                <a:cs typeface="Roboto"/>
              </a:rPr>
              <a:t>AdaGrad,</a:t>
            </a:r>
            <a:r>
              <a:rPr sz="1400" spc="-8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RMSprop,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Adam</a:t>
            </a:r>
            <a:r>
              <a:rPr sz="1400" spc="-6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(2014)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4762" y="-4749"/>
            <a:ext cx="9153525" cy="479425"/>
            <a:chOff x="-4762" y="-4749"/>
            <a:chExt cx="9153525" cy="479425"/>
          </a:xfrm>
        </p:grpSpPr>
        <p:sp>
          <p:nvSpPr>
            <p:cNvPr id="6" name="object 6"/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9144000" y="0"/>
                  </a:moveTo>
                  <a:lnTo>
                    <a:pt x="0" y="0"/>
                  </a:lnTo>
                  <a:lnTo>
                    <a:pt x="0" y="469506"/>
                  </a:lnTo>
                  <a:lnTo>
                    <a:pt x="9144000" y="46950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2"/>
              <a:ext cx="9144000" cy="469900"/>
            </a:xfrm>
            <a:custGeom>
              <a:avLst/>
              <a:gdLst/>
              <a:ahLst/>
              <a:cxnLst/>
              <a:rect l="l" t="t" r="r" b="b"/>
              <a:pathLst>
                <a:path w="9144000" h="469900">
                  <a:moveTo>
                    <a:pt x="0" y="469506"/>
                  </a:moveTo>
                  <a:lnTo>
                    <a:pt x="9144000" y="46950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95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Red</a:t>
            </a:r>
            <a:r>
              <a:rPr spc="25" dirty="0"/>
              <a:t> </a:t>
            </a:r>
            <a:r>
              <a:rPr dirty="0"/>
              <a:t>neuronal</a:t>
            </a:r>
            <a:r>
              <a:rPr spc="30" dirty="0"/>
              <a:t> </a:t>
            </a:r>
            <a:r>
              <a:rPr dirty="0"/>
              <a:t>feedforward con</a:t>
            </a:r>
            <a:r>
              <a:rPr spc="30" dirty="0"/>
              <a:t> </a:t>
            </a:r>
            <a:r>
              <a:rPr dirty="0"/>
              <a:t>p</a:t>
            </a:r>
            <a:r>
              <a:rPr spc="20" dirty="0"/>
              <a:t> </a:t>
            </a:r>
            <a:r>
              <a:rPr spc="-10" dirty="0"/>
              <a:t>layers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08279" y="3019120"/>
            <a:ext cx="1458595" cy="1464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Roboto"/>
                <a:cs typeface="Roboto"/>
              </a:rPr>
              <a:t>Layer:</a:t>
            </a:r>
            <a:endParaRPr sz="1400">
              <a:latin typeface="Roboto"/>
              <a:cs typeface="Roboto"/>
            </a:endParaRPr>
          </a:p>
          <a:p>
            <a:pPr marL="320675" indent="-178435">
              <a:lnSpc>
                <a:spcPct val="100000"/>
              </a:lnSpc>
              <a:spcBef>
                <a:spcPts val="5"/>
              </a:spcBef>
              <a:buChar char="-"/>
              <a:tabLst>
                <a:tab pos="320675" algn="l"/>
              </a:tabLst>
            </a:pPr>
            <a:r>
              <a:rPr sz="1400" spc="-10" dirty="0">
                <a:latin typeface="Roboto"/>
                <a:cs typeface="Roboto"/>
              </a:rPr>
              <a:t>Lineal</a:t>
            </a:r>
            <a:endParaRPr sz="1400">
              <a:latin typeface="Roboto"/>
              <a:cs typeface="Roboto"/>
            </a:endParaRPr>
          </a:p>
          <a:p>
            <a:pPr marL="320675" indent="-178435">
              <a:lnSpc>
                <a:spcPct val="100000"/>
              </a:lnSpc>
              <a:buChar char="-"/>
              <a:tabLst>
                <a:tab pos="320675" algn="l"/>
              </a:tabLst>
            </a:pPr>
            <a:r>
              <a:rPr sz="1400" spc="-10" dirty="0">
                <a:latin typeface="Roboto"/>
                <a:cs typeface="Roboto"/>
              </a:rPr>
              <a:t>Recurrente</a:t>
            </a:r>
            <a:endParaRPr sz="1400">
              <a:latin typeface="Roboto"/>
              <a:cs typeface="Roboto"/>
            </a:endParaRPr>
          </a:p>
          <a:p>
            <a:pPr marL="320675" indent="-178435">
              <a:lnSpc>
                <a:spcPct val="100000"/>
              </a:lnSpc>
              <a:buChar char="-"/>
              <a:tabLst>
                <a:tab pos="320675" algn="l"/>
              </a:tabLst>
            </a:pPr>
            <a:r>
              <a:rPr sz="1400" spc="-10" dirty="0">
                <a:latin typeface="Roboto"/>
                <a:cs typeface="Roboto"/>
              </a:rPr>
              <a:t>Convolucional</a:t>
            </a:r>
            <a:endParaRPr sz="1400">
              <a:latin typeface="Roboto"/>
              <a:cs typeface="Roboto"/>
            </a:endParaRPr>
          </a:p>
          <a:p>
            <a:pPr marL="320675" indent="-178435">
              <a:lnSpc>
                <a:spcPct val="100000"/>
              </a:lnSpc>
              <a:buChar char="-"/>
              <a:tabLst>
                <a:tab pos="320675" algn="l"/>
              </a:tabLst>
            </a:pPr>
            <a:r>
              <a:rPr sz="1400" spc="-10" dirty="0">
                <a:latin typeface="Roboto"/>
                <a:cs typeface="Roboto"/>
              </a:rPr>
              <a:t>Attention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400" spc="-10" dirty="0">
                <a:latin typeface="Roboto"/>
                <a:cs typeface="Roboto"/>
              </a:rPr>
              <a:t>Optimización: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6750" y="2436622"/>
            <a:ext cx="530225" cy="627380"/>
          </a:xfrm>
          <a:custGeom>
            <a:avLst/>
            <a:gdLst/>
            <a:ahLst/>
            <a:cxnLst/>
            <a:rect l="l" t="t" r="r" b="b"/>
            <a:pathLst>
              <a:path w="530225" h="627380">
                <a:moveTo>
                  <a:pt x="19989" y="544321"/>
                </a:moveTo>
                <a:lnTo>
                  <a:pt x="0" y="627126"/>
                </a:lnTo>
                <a:lnTo>
                  <a:pt x="78244" y="593470"/>
                </a:lnTo>
                <a:lnTo>
                  <a:pt x="64245" y="581659"/>
                </a:lnTo>
                <a:lnTo>
                  <a:pt x="44576" y="581659"/>
                </a:lnTo>
                <a:lnTo>
                  <a:pt x="37299" y="575436"/>
                </a:lnTo>
                <a:lnTo>
                  <a:pt x="45435" y="565789"/>
                </a:lnTo>
                <a:lnTo>
                  <a:pt x="19989" y="544321"/>
                </a:lnTo>
                <a:close/>
              </a:path>
              <a:path w="530225" h="627380">
                <a:moveTo>
                  <a:pt x="45435" y="565789"/>
                </a:moveTo>
                <a:lnTo>
                  <a:pt x="37299" y="575436"/>
                </a:lnTo>
                <a:lnTo>
                  <a:pt x="44576" y="581659"/>
                </a:lnTo>
                <a:lnTo>
                  <a:pt x="52753" y="571964"/>
                </a:lnTo>
                <a:lnTo>
                  <a:pt x="45435" y="565789"/>
                </a:lnTo>
                <a:close/>
              </a:path>
              <a:path w="530225" h="627380">
                <a:moveTo>
                  <a:pt x="52753" y="571964"/>
                </a:moveTo>
                <a:lnTo>
                  <a:pt x="44576" y="581659"/>
                </a:lnTo>
                <a:lnTo>
                  <a:pt x="64245" y="581659"/>
                </a:lnTo>
                <a:lnTo>
                  <a:pt x="52753" y="571964"/>
                </a:lnTo>
                <a:close/>
              </a:path>
              <a:path w="530225" h="627380">
                <a:moveTo>
                  <a:pt x="522554" y="0"/>
                </a:moveTo>
                <a:lnTo>
                  <a:pt x="45435" y="565789"/>
                </a:lnTo>
                <a:lnTo>
                  <a:pt x="52753" y="571964"/>
                </a:lnTo>
                <a:lnTo>
                  <a:pt x="529844" y="6222"/>
                </a:lnTo>
                <a:lnTo>
                  <a:pt x="522554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40814" y="3018536"/>
            <a:ext cx="9461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Roboto"/>
                <a:cs typeface="Roboto"/>
              </a:rPr>
              <a:t>Activación:</a:t>
            </a:r>
            <a:endParaRPr sz="1400">
              <a:latin typeface="Roboto"/>
              <a:cs typeface="Roboto"/>
            </a:endParaRPr>
          </a:p>
          <a:p>
            <a:pPr marL="281940" indent="-177800">
              <a:lnSpc>
                <a:spcPct val="100000"/>
              </a:lnSpc>
              <a:spcBef>
                <a:spcPts val="5"/>
              </a:spcBef>
              <a:buChar char="-"/>
              <a:tabLst>
                <a:tab pos="281940" algn="l"/>
              </a:tabLst>
            </a:pPr>
            <a:r>
              <a:rPr sz="1400" spc="-10" dirty="0">
                <a:latin typeface="Roboto"/>
                <a:cs typeface="Roboto"/>
              </a:rPr>
              <a:t>Sigmoid</a:t>
            </a:r>
            <a:endParaRPr sz="1400">
              <a:latin typeface="Roboto"/>
              <a:cs typeface="Roboto"/>
            </a:endParaRPr>
          </a:p>
          <a:p>
            <a:pPr marL="281940" indent="-177800">
              <a:lnSpc>
                <a:spcPct val="100000"/>
              </a:lnSpc>
              <a:buChar char="-"/>
              <a:tabLst>
                <a:tab pos="281940" algn="l"/>
              </a:tabLst>
            </a:pPr>
            <a:r>
              <a:rPr sz="1400" spc="-20" dirty="0">
                <a:latin typeface="Roboto"/>
                <a:cs typeface="Roboto"/>
              </a:rPr>
              <a:t>ReLU</a:t>
            </a:r>
            <a:endParaRPr sz="1400">
              <a:latin typeface="Roboto"/>
              <a:cs typeface="Roboto"/>
            </a:endParaRPr>
          </a:p>
          <a:p>
            <a:pPr marL="281940" indent="-177800">
              <a:lnSpc>
                <a:spcPct val="100000"/>
              </a:lnSpc>
              <a:buChar char="-"/>
              <a:tabLst>
                <a:tab pos="281940" algn="l"/>
              </a:tabLst>
            </a:pPr>
            <a:r>
              <a:rPr sz="1400" spc="-20" dirty="0">
                <a:latin typeface="Roboto"/>
                <a:cs typeface="Roboto"/>
              </a:rPr>
              <a:t>Tanh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47823" y="2449702"/>
            <a:ext cx="76200" cy="575945"/>
          </a:xfrm>
          <a:custGeom>
            <a:avLst/>
            <a:gdLst/>
            <a:ahLst/>
            <a:cxnLst/>
            <a:rect l="l" t="t" r="r" b="b"/>
            <a:pathLst>
              <a:path w="76200" h="575944">
                <a:moveTo>
                  <a:pt x="33400" y="499491"/>
                </a:moveTo>
                <a:lnTo>
                  <a:pt x="0" y="499491"/>
                </a:lnTo>
                <a:lnTo>
                  <a:pt x="38100" y="575691"/>
                </a:lnTo>
                <a:lnTo>
                  <a:pt x="69850" y="512191"/>
                </a:lnTo>
                <a:lnTo>
                  <a:pt x="33400" y="512191"/>
                </a:lnTo>
                <a:lnTo>
                  <a:pt x="33400" y="499491"/>
                </a:lnTo>
                <a:close/>
              </a:path>
              <a:path w="76200" h="575944">
                <a:moveTo>
                  <a:pt x="42925" y="0"/>
                </a:moveTo>
                <a:lnTo>
                  <a:pt x="33400" y="0"/>
                </a:lnTo>
                <a:lnTo>
                  <a:pt x="33400" y="512191"/>
                </a:lnTo>
                <a:lnTo>
                  <a:pt x="42925" y="512191"/>
                </a:lnTo>
                <a:lnTo>
                  <a:pt x="42925" y="0"/>
                </a:lnTo>
                <a:close/>
              </a:path>
              <a:path w="76200" h="575944">
                <a:moveTo>
                  <a:pt x="76200" y="499491"/>
                </a:moveTo>
                <a:lnTo>
                  <a:pt x="42925" y="499491"/>
                </a:lnTo>
                <a:lnTo>
                  <a:pt x="42925" y="512191"/>
                </a:lnTo>
                <a:lnTo>
                  <a:pt x="69850" y="512191"/>
                </a:lnTo>
                <a:lnTo>
                  <a:pt x="76200" y="499491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00778" y="20981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00778" y="18100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00778" y="14190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732" y="42799"/>
                </a:lnTo>
                <a:lnTo>
                  <a:pt x="214630" y="42799"/>
                </a:lnTo>
                <a:lnTo>
                  <a:pt x="214630" y="33274"/>
                </a:lnTo>
                <a:lnTo>
                  <a:pt x="268478" y="33274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30" y="42799"/>
                </a:lnTo>
                <a:lnTo>
                  <a:pt x="201930" y="33274"/>
                </a:lnTo>
                <a:close/>
              </a:path>
              <a:path w="278129" h="76200">
                <a:moveTo>
                  <a:pt x="268478" y="33274"/>
                </a:moveTo>
                <a:lnTo>
                  <a:pt x="214630" y="33274"/>
                </a:lnTo>
                <a:lnTo>
                  <a:pt x="214630" y="42799"/>
                </a:lnTo>
                <a:lnTo>
                  <a:pt x="268732" y="42799"/>
                </a:lnTo>
                <a:lnTo>
                  <a:pt x="278130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00778" y="10579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272153" y="1539062"/>
            <a:ext cx="4013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Roboto"/>
                <a:cs typeface="Roboto"/>
              </a:rPr>
              <a:t>(...)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09850" y="832230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(2)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66872" y="209829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7" y="33274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29" h="76200">
                <a:moveTo>
                  <a:pt x="268477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7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66872" y="18100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29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66872" y="14190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29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66872" y="1058036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7" y="33274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29" h="76200">
                <a:moveTo>
                  <a:pt x="268477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7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05071" y="209829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7" y="33274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29" h="76200">
                <a:moveTo>
                  <a:pt x="268477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7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05071" y="18100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29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005071" y="14190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29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005071" y="1058036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7" y="33274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29" h="76200">
                <a:moveTo>
                  <a:pt x="268477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7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53638" y="8244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40970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(2)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46019" y="2747010"/>
            <a:ext cx="6432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Roboto"/>
                <a:cs typeface="Roboto"/>
              </a:rPr>
              <a:t>Layer</a:t>
            </a:r>
            <a:r>
              <a:rPr sz="1500" spc="-55" dirty="0">
                <a:latin typeface="Roboto"/>
                <a:cs typeface="Roboto"/>
              </a:rPr>
              <a:t> </a:t>
            </a:r>
            <a:r>
              <a:rPr sz="1500" spc="-50" dirty="0">
                <a:latin typeface="Roboto"/>
                <a:cs typeface="Roboto"/>
              </a:rPr>
              <a:t>2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0258" y="2560116"/>
            <a:ext cx="1398270" cy="106375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82879" y="970640"/>
            <a:ext cx="361315" cy="12833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0"/>
              </a:spcBef>
            </a:pPr>
            <a:r>
              <a:rPr sz="2250" spc="-30" baseline="12962" dirty="0">
                <a:latin typeface="Roboto"/>
                <a:cs typeface="Roboto"/>
              </a:rPr>
              <a:t>X</a:t>
            </a:r>
            <a:r>
              <a:rPr sz="1000" spc="-20" dirty="0">
                <a:latin typeface="Roboto"/>
                <a:cs typeface="Roboto"/>
              </a:rPr>
              <a:t>i,1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2250" spc="-30" baseline="12962" dirty="0">
                <a:latin typeface="Roboto"/>
                <a:cs typeface="Roboto"/>
              </a:rPr>
              <a:t>X</a:t>
            </a:r>
            <a:r>
              <a:rPr sz="1000" spc="-20" dirty="0">
                <a:latin typeface="Roboto"/>
                <a:cs typeface="Roboto"/>
              </a:rPr>
              <a:t>i,2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30"/>
              </a:spcBef>
            </a:pPr>
            <a:r>
              <a:rPr sz="1000" spc="-50" dirty="0">
                <a:latin typeface="Roboto"/>
                <a:cs typeface="Roboto"/>
              </a:rPr>
              <a:t>…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70"/>
              </a:spcBef>
            </a:pPr>
            <a:r>
              <a:rPr sz="2250" spc="-30" baseline="12962" dirty="0">
                <a:latin typeface="Roboto"/>
                <a:cs typeface="Roboto"/>
              </a:rPr>
              <a:t>X</a:t>
            </a:r>
            <a:r>
              <a:rPr sz="1000" spc="-20" dirty="0">
                <a:latin typeface="Roboto"/>
                <a:cs typeface="Roboto"/>
              </a:rPr>
              <a:t>i,m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3803" y="8244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60601" y="8244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40970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82091" y="2098167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82091" y="1810004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2091" y="1419097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300" y="42799"/>
                </a:lnTo>
                <a:lnTo>
                  <a:pt x="368198" y="42799"/>
                </a:lnTo>
                <a:lnTo>
                  <a:pt x="368198" y="33274"/>
                </a:lnTo>
                <a:lnTo>
                  <a:pt x="422046" y="33274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55498" y="42799"/>
                </a:lnTo>
                <a:lnTo>
                  <a:pt x="355498" y="33274"/>
                </a:lnTo>
                <a:close/>
              </a:path>
              <a:path w="431800" h="76200">
                <a:moveTo>
                  <a:pt x="422046" y="33274"/>
                </a:moveTo>
                <a:lnTo>
                  <a:pt x="368198" y="33274"/>
                </a:lnTo>
                <a:lnTo>
                  <a:pt x="368198" y="42799"/>
                </a:lnTo>
                <a:lnTo>
                  <a:pt x="422300" y="42799"/>
                </a:lnTo>
                <a:lnTo>
                  <a:pt x="431698" y="38100"/>
                </a:lnTo>
                <a:lnTo>
                  <a:pt x="422046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82091" y="105791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73835" y="20981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73835" y="18100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473835" y="14190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8" y="33274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30" h="76200">
                <a:moveTo>
                  <a:pt x="268478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473835" y="10579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12035" y="20981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12035" y="18100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312035" y="141909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7" y="33274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30" h="76200">
                <a:moveTo>
                  <a:pt x="268477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7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312035" y="10579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279397" y="2747010"/>
            <a:ext cx="6432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Roboto"/>
                <a:cs typeface="Roboto"/>
              </a:rPr>
              <a:t>Layer</a:t>
            </a:r>
            <a:r>
              <a:rPr sz="1500" spc="-55" dirty="0">
                <a:latin typeface="Roboto"/>
                <a:cs typeface="Roboto"/>
              </a:rPr>
              <a:t> </a:t>
            </a:r>
            <a:r>
              <a:rPr sz="1500" spc="-50" dirty="0">
                <a:latin typeface="Roboto"/>
                <a:cs typeface="Roboto"/>
              </a:rPr>
              <a:t>1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47" name="object 4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803" y="2560116"/>
            <a:ext cx="1398270" cy="106375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5993891" y="1417434"/>
            <a:ext cx="897890" cy="406400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715"/>
              </a:spcBef>
            </a:pPr>
            <a:r>
              <a:rPr sz="1400" spc="-20" dirty="0">
                <a:solidFill>
                  <a:srgbClr val="1F1F1F"/>
                </a:solidFill>
                <a:latin typeface="Arial MT"/>
                <a:cs typeface="Arial MT"/>
              </a:rPr>
              <a:t>Loss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362572" y="1823339"/>
            <a:ext cx="160655" cy="616585"/>
            <a:chOff x="6362572" y="1823339"/>
            <a:chExt cx="160655" cy="616585"/>
          </a:xfrm>
        </p:grpSpPr>
        <p:sp>
          <p:nvSpPr>
            <p:cNvPr id="50" name="object 50"/>
            <p:cNvSpPr/>
            <p:nvPr/>
          </p:nvSpPr>
          <p:spPr>
            <a:xfrm>
              <a:off x="6404609" y="1823339"/>
              <a:ext cx="76200" cy="424180"/>
            </a:xfrm>
            <a:custGeom>
              <a:avLst/>
              <a:gdLst/>
              <a:ahLst/>
              <a:cxnLst/>
              <a:rect l="l" t="t" r="r" b="b"/>
              <a:pathLst>
                <a:path w="76200" h="424180">
                  <a:moveTo>
                    <a:pt x="42925" y="63500"/>
                  </a:moveTo>
                  <a:lnTo>
                    <a:pt x="33400" y="63500"/>
                  </a:lnTo>
                  <a:lnTo>
                    <a:pt x="33400" y="423672"/>
                  </a:lnTo>
                  <a:lnTo>
                    <a:pt x="42925" y="423672"/>
                  </a:lnTo>
                  <a:lnTo>
                    <a:pt x="42925" y="63500"/>
                  </a:lnTo>
                  <a:close/>
                </a:path>
                <a:path w="76200" h="424180">
                  <a:moveTo>
                    <a:pt x="38100" y="0"/>
                  </a:moveTo>
                  <a:lnTo>
                    <a:pt x="0" y="76200"/>
                  </a:lnTo>
                  <a:lnTo>
                    <a:pt x="33400" y="76200"/>
                  </a:lnTo>
                  <a:lnTo>
                    <a:pt x="33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4180">
                  <a:moveTo>
                    <a:pt x="69850" y="63500"/>
                  </a:moveTo>
                  <a:lnTo>
                    <a:pt x="42925" y="63500"/>
                  </a:lnTo>
                  <a:lnTo>
                    <a:pt x="429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2572" y="2288857"/>
              <a:ext cx="160337" cy="150812"/>
            </a:xfrm>
            <a:prstGeom prst="rect">
              <a:avLst/>
            </a:prstGeom>
          </p:spPr>
        </p:pic>
      </p:grpSp>
      <p:sp>
        <p:nvSpPr>
          <p:cNvPr id="52" name="object 52"/>
          <p:cNvSpPr/>
          <p:nvPr/>
        </p:nvSpPr>
        <p:spPr>
          <a:xfrm>
            <a:off x="6891528" y="1580007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77894" y="33273"/>
                </a:moveTo>
                <a:lnTo>
                  <a:pt x="422148" y="33273"/>
                </a:lnTo>
                <a:lnTo>
                  <a:pt x="422275" y="42671"/>
                </a:lnTo>
                <a:lnTo>
                  <a:pt x="409638" y="42846"/>
                </a:lnTo>
                <a:lnTo>
                  <a:pt x="410082" y="76200"/>
                </a:lnTo>
                <a:lnTo>
                  <a:pt x="485775" y="37083"/>
                </a:lnTo>
                <a:lnTo>
                  <a:pt x="477894" y="33273"/>
                </a:lnTo>
                <a:close/>
              </a:path>
              <a:path w="485775" h="76200">
                <a:moveTo>
                  <a:pt x="409512" y="33445"/>
                </a:moveTo>
                <a:lnTo>
                  <a:pt x="0" y="38988"/>
                </a:lnTo>
                <a:lnTo>
                  <a:pt x="126" y="48513"/>
                </a:lnTo>
                <a:lnTo>
                  <a:pt x="409638" y="42846"/>
                </a:lnTo>
                <a:lnTo>
                  <a:pt x="409512" y="33445"/>
                </a:lnTo>
                <a:close/>
              </a:path>
              <a:path w="485775" h="76200">
                <a:moveTo>
                  <a:pt x="422148" y="33273"/>
                </a:moveTo>
                <a:lnTo>
                  <a:pt x="409512" y="33445"/>
                </a:lnTo>
                <a:lnTo>
                  <a:pt x="409638" y="42846"/>
                </a:lnTo>
                <a:lnTo>
                  <a:pt x="422275" y="42671"/>
                </a:lnTo>
                <a:lnTo>
                  <a:pt x="422148" y="33273"/>
                </a:lnTo>
                <a:close/>
              </a:path>
              <a:path w="485775" h="76200">
                <a:moveTo>
                  <a:pt x="409067" y="0"/>
                </a:moveTo>
                <a:lnTo>
                  <a:pt x="409510" y="33273"/>
                </a:lnTo>
                <a:lnTo>
                  <a:pt x="409512" y="33445"/>
                </a:lnTo>
                <a:lnTo>
                  <a:pt x="422148" y="33273"/>
                </a:lnTo>
                <a:lnTo>
                  <a:pt x="477894" y="33273"/>
                </a:lnTo>
                <a:lnTo>
                  <a:pt x="409067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object 5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10653" y="1469453"/>
            <a:ext cx="1004887" cy="325437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4984369" y="824483"/>
            <a:ext cx="541655" cy="1615440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vert" wrap="square" lIns="0" tIns="157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40"/>
              </a:spcBef>
            </a:pPr>
            <a:r>
              <a:rPr sz="1400" spc="-10" dirty="0">
                <a:solidFill>
                  <a:srgbClr val="1F1F1F"/>
                </a:solidFill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516879" y="1355597"/>
            <a:ext cx="485775" cy="309245"/>
            <a:chOff x="5516879" y="1355597"/>
            <a:chExt cx="485775" cy="309245"/>
          </a:xfrm>
        </p:grpSpPr>
        <p:sp>
          <p:nvSpPr>
            <p:cNvPr id="56" name="object 56"/>
            <p:cNvSpPr/>
            <p:nvPr/>
          </p:nvSpPr>
          <p:spPr>
            <a:xfrm>
              <a:off x="5516879" y="1588515"/>
              <a:ext cx="485775" cy="76200"/>
            </a:xfrm>
            <a:custGeom>
              <a:avLst/>
              <a:gdLst/>
              <a:ahLst/>
              <a:cxnLst/>
              <a:rect l="l" t="t" r="r" b="b"/>
              <a:pathLst>
                <a:path w="485775" h="76200">
                  <a:moveTo>
                    <a:pt x="477866" y="33147"/>
                  </a:moveTo>
                  <a:lnTo>
                    <a:pt x="422148" y="33147"/>
                  </a:lnTo>
                  <a:lnTo>
                    <a:pt x="422275" y="42672"/>
                  </a:lnTo>
                  <a:lnTo>
                    <a:pt x="409639" y="42843"/>
                  </a:lnTo>
                  <a:lnTo>
                    <a:pt x="410083" y="76073"/>
                  </a:lnTo>
                  <a:lnTo>
                    <a:pt x="485775" y="36957"/>
                  </a:lnTo>
                  <a:lnTo>
                    <a:pt x="477866" y="33147"/>
                  </a:lnTo>
                  <a:close/>
                </a:path>
                <a:path w="485775" h="76200">
                  <a:moveTo>
                    <a:pt x="409511" y="33318"/>
                  </a:moveTo>
                  <a:lnTo>
                    <a:pt x="0" y="38862"/>
                  </a:lnTo>
                  <a:lnTo>
                    <a:pt x="50" y="42672"/>
                  </a:lnTo>
                  <a:lnTo>
                    <a:pt x="127" y="48387"/>
                  </a:lnTo>
                  <a:lnTo>
                    <a:pt x="409639" y="42843"/>
                  </a:lnTo>
                  <a:lnTo>
                    <a:pt x="409560" y="36957"/>
                  </a:lnTo>
                  <a:lnTo>
                    <a:pt x="409511" y="33318"/>
                  </a:lnTo>
                  <a:close/>
                </a:path>
                <a:path w="485775" h="76200">
                  <a:moveTo>
                    <a:pt x="422148" y="33147"/>
                  </a:moveTo>
                  <a:lnTo>
                    <a:pt x="409511" y="33318"/>
                  </a:lnTo>
                  <a:lnTo>
                    <a:pt x="409560" y="36957"/>
                  </a:lnTo>
                  <a:lnTo>
                    <a:pt x="409639" y="42843"/>
                  </a:lnTo>
                  <a:lnTo>
                    <a:pt x="422275" y="42672"/>
                  </a:lnTo>
                  <a:lnTo>
                    <a:pt x="422148" y="33147"/>
                  </a:lnTo>
                  <a:close/>
                </a:path>
                <a:path w="485775" h="76200">
                  <a:moveTo>
                    <a:pt x="409067" y="0"/>
                  </a:moveTo>
                  <a:lnTo>
                    <a:pt x="409509" y="33147"/>
                  </a:lnTo>
                  <a:lnTo>
                    <a:pt x="409511" y="33318"/>
                  </a:lnTo>
                  <a:lnTo>
                    <a:pt x="422148" y="33147"/>
                  </a:lnTo>
                  <a:lnTo>
                    <a:pt x="477866" y="33147"/>
                  </a:lnTo>
                  <a:lnTo>
                    <a:pt x="409067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9566" y="1355597"/>
              <a:ext cx="160337" cy="203200"/>
            </a:xfrm>
            <a:prstGeom prst="rect">
              <a:avLst/>
            </a:prstGeom>
          </p:spPr>
        </p:pic>
      </p:grpSp>
      <p:grpSp>
        <p:nvGrpSpPr>
          <p:cNvPr id="58" name="object 58"/>
          <p:cNvGrpSpPr/>
          <p:nvPr/>
        </p:nvGrpSpPr>
        <p:grpSpPr>
          <a:xfrm>
            <a:off x="5697346" y="567626"/>
            <a:ext cx="1443355" cy="741680"/>
            <a:chOff x="5697346" y="567626"/>
            <a:chExt cx="1443355" cy="741680"/>
          </a:xfrm>
        </p:grpSpPr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97346" y="567626"/>
              <a:ext cx="1442974" cy="32543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721603" y="874140"/>
              <a:ext cx="76200" cy="435609"/>
            </a:xfrm>
            <a:custGeom>
              <a:avLst/>
              <a:gdLst/>
              <a:ahLst/>
              <a:cxnLst/>
              <a:rect l="l" t="t" r="r" b="b"/>
              <a:pathLst>
                <a:path w="76200" h="435609">
                  <a:moveTo>
                    <a:pt x="42925" y="63500"/>
                  </a:moveTo>
                  <a:lnTo>
                    <a:pt x="33400" y="63500"/>
                  </a:lnTo>
                  <a:lnTo>
                    <a:pt x="33400" y="435101"/>
                  </a:lnTo>
                  <a:lnTo>
                    <a:pt x="42925" y="435101"/>
                  </a:lnTo>
                  <a:lnTo>
                    <a:pt x="42925" y="63500"/>
                  </a:lnTo>
                  <a:close/>
                </a:path>
                <a:path w="76200" h="435609">
                  <a:moveTo>
                    <a:pt x="38100" y="0"/>
                  </a:moveTo>
                  <a:lnTo>
                    <a:pt x="0" y="76200"/>
                  </a:lnTo>
                  <a:lnTo>
                    <a:pt x="33400" y="76200"/>
                  </a:lnTo>
                  <a:lnTo>
                    <a:pt x="33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35609">
                  <a:moveTo>
                    <a:pt x="69850" y="63500"/>
                  </a:moveTo>
                  <a:lnTo>
                    <a:pt x="42925" y="63500"/>
                  </a:lnTo>
                  <a:lnTo>
                    <a:pt x="429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273933" y="3565093"/>
            <a:ext cx="272669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105"/>
              </a:spcBef>
              <a:buChar char="-"/>
              <a:tabLst>
                <a:tab pos="190500" algn="l"/>
              </a:tabLst>
            </a:pPr>
            <a:r>
              <a:rPr sz="1400" spc="-10" dirty="0">
                <a:latin typeface="Roboto"/>
                <a:cs typeface="Roboto"/>
              </a:rPr>
              <a:t>Regresión</a:t>
            </a:r>
            <a:r>
              <a:rPr sz="1400" spc="-45" dirty="0">
                <a:latin typeface="Roboto"/>
                <a:cs typeface="Roboto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∅</a:t>
            </a:r>
            <a:endParaRPr sz="1400">
              <a:latin typeface="Cambria Math"/>
              <a:cs typeface="Cambria Math"/>
            </a:endParaRPr>
          </a:p>
          <a:p>
            <a:pPr marL="190500" indent="-177800">
              <a:lnSpc>
                <a:spcPct val="100000"/>
              </a:lnSpc>
              <a:buChar char="-"/>
              <a:tabLst>
                <a:tab pos="190500" algn="l"/>
              </a:tabLst>
            </a:pPr>
            <a:r>
              <a:rPr sz="1400" spc="-10" dirty="0">
                <a:latin typeface="Roboto"/>
                <a:cs typeface="Roboto"/>
              </a:rPr>
              <a:t>Clasificación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binaria</a:t>
            </a:r>
            <a:r>
              <a:rPr sz="1400" spc="-35" dirty="0">
                <a:latin typeface="Roboto"/>
                <a:cs typeface="Roboto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Roboto"/>
                <a:cs typeface="Roboto"/>
              </a:rPr>
              <a:t>Sigmoid</a:t>
            </a:r>
            <a:endParaRPr sz="1400">
              <a:latin typeface="Roboto"/>
              <a:cs typeface="Roboto"/>
            </a:endParaRPr>
          </a:p>
          <a:p>
            <a:pPr marL="190500" indent="-177800">
              <a:lnSpc>
                <a:spcPct val="100000"/>
              </a:lnSpc>
              <a:buChar char="-"/>
              <a:tabLst>
                <a:tab pos="190500" algn="l"/>
              </a:tabLst>
            </a:pPr>
            <a:r>
              <a:rPr sz="1400" spc="-10" dirty="0">
                <a:latin typeface="Roboto"/>
                <a:cs typeface="Roboto"/>
              </a:rPr>
              <a:t>Clasificación</a:t>
            </a:r>
            <a:r>
              <a:rPr sz="1400" spc="-4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multiclase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→</a:t>
            </a:r>
            <a:endParaRPr sz="14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</a:pPr>
            <a:r>
              <a:rPr sz="1400" spc="-10" dirty="0">
                <a:latin typeface="Roboto"/>
                <a:cs typeface="Roboto"/>
              </a:rPr>
              <a:t>Softmax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872865" y="2436114"/>
            <a:ext cx="1385570" cy="1158875"/>
          </a:xfrm>
          <a:custGeom>
            <a:avLst/>
            <a:gdLst/>
            <a:ahLst/>
            <a:cxnLst/>
            <a:rect l="l" t="t" r="r" b="b"/>
            <a:pathLst>
              <a:path w="1385570" h="1158875">
                <a:moveTo>
                  <a:pt x="34036" y="1080770"/>
                </a:moveTo>
                <a:lnTo>
                  <a:pt x="0" y="1158875"/>
                </a:lnTo>
                <a:lnTo>
                  <a:pt x="82931" y="1139317"/>
                </a:lnTo>
                <a:lnTo>
                  <a:pt x="68294" y="1121791"/>
                </a:lnTo>
                <a:lnTo>
                  <a:pt x="51815" y="1121791"/>
                </a:lnTo>
                <a:lnTo>
                  <a:pt x="45593" y="1114552"/>
                </a:lnTo>
                <a:lnTo>
                  <a:pt x="55401" y="1106353"/>
                </a:lnTo>
                <a:lnTo>
                  <a:pt x="34036" y="1080770"/>
                </a:lnTo>
                <a:close/>
              </a:path>
              <a:path w="1385570" h="1158875">
                <a:moveTo>
                  <a:pt x="55401" y="1106353"/>
                </a:moveTo>
                <a:lnTo>
                  <a:pt x="45593" y="1114552"/>
                </a:lnTo>
                <a:lnTo>
                  <a:pt x="51815" y="1121791"/>
                </a:lnTo>
                <a:lnTo>
                  <a:pt x="61520" y="1113679"/>
                </a:lnTo>
                <a:lnTo>
                  <a:pt x="55401" y="1106353"/>
                </a:lnTo>
                <a:close/>
              </a:path>
              <a:path w="1385570" h="1158875">
                <a:moveTo>
                  <a:pt x="61520" y="1113679"/>
                </a:moveTo>
                <a:lnTo>
                  <a:pt x="51815" y="1121791"/>
                </a:lnTo>
                <a:lnTo>
                  <a:pt x="68294" y="1121791"/>
                </a:lnTo>
                <a:lnTo>
                  <a:pt x="61520" y="1113679"/>
                </a:lnTo>
                <a:close/>
              </a:path>
              <a:path w="1385570" h="1158875">
                <a:moveTo>
                  <a:pt x="1379093" y="0"/>
                </a:moveTo>
                <a:lnTo>
                  <a:pt x="55401" y="1106353"/>
                </a:lnTo>
                <a:lnTo>
                  <a:pt x="61520" y="1113679"/>
                </a:lnTo>
                <a:lnTo>
                  <a:pt x="1385189" y="7238"/>
                </a:lnTo>
                <a:lnTo>
                  <a:pt x="1379093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253990" y="2774442"/>
            <a:ext cx="372745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100"/>
              </a:spcBef>
              <a:buChar char="-"/>
              <a:tabLst>
                <a:tab pos="190500" algn="l"/>
              </a:tabLst>
            </a:pPr>
            <a:r>
              <a:rPr sz="1400" spc="-10" dirty="0">
                <a:latin typeface="Roboto"/>
                <a:cs typeface="Roboto"/>
              </a:rPr>
              <a:t>Regresión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Roboto"/>
                <a:cs typeface="Roboto"/>
              </a:rPr>
              <a:t>MSE</a:t>
            </a:r>
            <a:endParaRPr sz="1400" dirty="0">
              <a:latin typeface="Roboto"/>
              <a:cs typeface="Roboto"/>
            </a:endParaRPr>
          </a:p>
          <a:p>
            <a:pPr marL="190500" indent="-177800">
              <a:lnSpc>
                <a:spcPct val="100000"/>
              </a:lnSpc>
              <a:spcBef>
                <a:spcPts val="5"/>
              </a:spcBef>
              <a:buChar char="-"/>
              <a:tabLst>
                <a:tab pos="190500" algn="l"/>
              </a:tabLst>
            </a:pPr>
            <a:r>
              <a:rPr sz="1400" spc="-10" dirty="0">
                <a:latin typeface="Roboto"/>
                <a:cs typeface="Roboto"/>
              </a:rPr>
              <a:t>Clasificación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binaria</a:t>
            </a:r>
            <a:r>
              <a:rPr sz="1400" spc="-45" dirty="0">
                <a:latin typeface="Roboto"/>
                <a:cs typeface="Roboto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Roboto"/>
                <a:cs typeface="Roboto"/>
              </a:rPr>
              <a:t>Binary</a:t>
            </a:r>
            <a:r>
              <a:rPr sz="1400" spc="-4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Cross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Entropy</a:t>
            </a:r>
            <a:endParaRPr sz="1400" dirty="0">
              <a:latin typeface="Roboto"/>
              <a:cs typeface="Roboto"/>
            </a:endParaRPr>
          </a:p>
          <a:p>
            <a:pPr marL="190500" indent="-177800">
              <a:lnSpc>
                <a:spcPct val="100000"/>
              </a:lnSpc>
              <a:buChar char="-"/>
              <a:tabLst>
                <a:tab pos="190500" algn="l"/>
              </a:tabLst>
            </a:pPr>
            <a:r>
              <a:rPr sz="1400" spc="-10" dirty="0">
                <a:latin typeface="Roboto"/>
                <a:cs typeface="Roboto"/>
              </a:rPr>
              <a:t>Clasificación</a:t>
            </a:r>
            <a:r>
              <a:rPr sz="1400" spc="-3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multiclase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Roboto"/>
                <a:cs typeface="Roboto"/>
              </a:rPr>
              <a:t>Cross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Entropy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817996" y="1835911"/>
            <a:ext cx="353060" cy="974725"/>
          </a:xfrm>
          <a:custGeom>
            <a:avLst/>
            <a:gdLst/>
            <a:ahLst/>
            <a:cxnLst/>
            <a:rect l="l" t="t" r="r" b="b"/>
            <a:pathLst>
              <a:path w="353060" h="974725">
                <a:moveTo>
                  <a:pt x="0" y="890269"/>
                </a:moveTo>
                <a:lnTo>
                  <a:pt x="11049" y="974725"/>
                </a:lnTo>
                <a:lnTo>
                  <a:pt x="70966" y="916305"/>
                </a:lnTo>
                <a:lnTo>
                  <a:pt x="36322" y="916305"/>
                </a:lnTo>
                <a:lnTo>
                  <a:pt x="27431" y="913257"/>
                </a:lnTo>
                <a:lnTo>
                  <a:pt x="31595" y="901247"/>
                </a:lnTo>
                <a:lnTo>
                  <a:pt x="0" y="890269"/>
                </a:lnTo>
                <a:close/>
              </a:path>
              <a:path w="353060" h="974725">
                <a:moveTo>
                  <a:pt x="31595" y="901247"/>
                </a:moveTo>
                <a:lnTo>
                  <a:pt x="27431" y="913257"/>
                </a:lnTo>
                <a:lnTo>
                  <a:pt x="36322" y="916305"/>
                </a:lnTo>
                <a:lnTo>
                  <a:pt x="40474" y="904332"/>
                </a:lnTo>
                <a:lnTo>
                  <a:pt x="31595" y="901247"/>
                </a:lnTo>
                <a:close/>
              </a:path>
              <a:path w="353060" h="974725">
                <a:moveTo>
                  <a:pt x="40474" y="904332"/>
                </a:moveTo>
                <a:lnTo>
                  <a:pt x="36322" y="916305"/>
                </a:lnTo>
                <a:lnTo>
                  <a:pt x="70966" y="916305"/>
                </a:lnTo>
                <a:lnTo>
                  <a:pt x="72008" y="915288"/>
                </a:lnTo>
                <a:lnTo>
                  <a:pt x="40474" y="904332"/>
                </a:lnTo>
                <a:close/>
              </a:path>
              <a:path w="353060" h="974725">
                <a:moveTo>
                  <a:pt x="344042" y="0"/>
                </a:moveTo>
                <a:lnTo>
                  <a:pt x="31595" y="901247"/>
                </a:lnTo>
                <a:lnTo>
                  <a:pt x="40474" y="904332"/>
                </a:lnTo>
                <a:lnTo>
                  <a:pt x="353060" y="3175"/>
                </a:lnTo>
                <a:lnTo>
                  <a:pt x="344042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163" y="2125167"/>
            <a:ext cx="65716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PE" sz="4800" b="0" spc="-30" dirty="0" err="1"/>
              <a:t>Backpropagation</a:t>
            </a:r>
            <a:endParaRPr sz="48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30BB2-5392-16B2-D2A2-55604D10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C726C25E-BF4B-31B1-DF40-C45A595C1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455157"/>
          </a:xfrm>
        </p:spPr>
        <p:txBody>
          <a:bodyPr/>
          <a:lstStyle/>
          <a:p>
            <a:r>
              <a:rPr lang="es-PE" sz="2400" dirty="0" err="1"/>
              <a:t>Backpropagation</a:t>
            </a:r>
            <a:br>
              <a:rPr lang="es-PE" sz="2400" b="0" dirty="0"/>
            </a:br>
            <a:endParaRPr lang="es-PE" sz="2400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13417824-D8E5-2A02-3939-086D97FE16C4}"/>
              </a:ext>
            </a:extLst>
          </p:cNvPr>
          <p:cNvGrpSpPr/>
          <p:nvPr/>
        </p:nvGrpSpPr>
        <p:grpSpPr>
          <a:xfrm>
            <a:off x="228600" y="1809744"/>
            <a:ext cx="529046" cy="1556486"/>
            <a:chOff x="2021305" y="2111600"/>
            <a:chExt cx="705394" cy="20753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1">
                  <a:extLst>
                    <a:ext uri="{FF2B5EF4-FFF2-40B4-BE49-F238E27FC236}">
                      <a16:creationId xmlns:a16="http://schemas.microsoft.com/office/drawing/2014/main" id="{65B7FFCC-48C7-CFB5-85A1-B67CBFC64052}"/>
                    </a:ext>
                  </a:extLst>
                </p:cNvPr>
                <p:cNvSpPr/>
                <p:nvPr/>
              </p:nvSpPr>
              <p:spPr>
                <a:xfrm>
                  <a:off x="2021305" y="2111600"/>
                  <a:ext cx="705394" cy="705394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9" name="Oval 1">
                  <a:extLst>
                    <a:ext uri="{FF2B5EF4-FFF2-40B4-BE49-F238E27FC236}">
                      <a16:creationId xmlns:a16="http://schemas.microsoft.com/office/drawing/2014/main" id="{65B7FFCC-48C7-CFB5-85A1-B67CBFC640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1305" y="2111600"/>
                  <a:ext cx="705394" cy="705394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2">
                  <a:extLst>
                    <a:ext uri="{FF2B5EF4-FFF2-40B4-BE49-F238E27FC236}">
                      <a16:creationId xmlns:a16="http://schemas.microsoft.com/office/drawing/2014/main" id="{8C0C7931-653D-CAF4-E945-2758198E2450}"/>
                    </a:ext>
                  </a:extLst>
                </p:cNvPr>
                <p:cNvSpPr/>
                <p:nvPr/>
              </p:nvSpPr>
              <p:spPr>
                <a:xfrm>
                  <a:off x="2021305" y="3481520"/>
                  <a:ext cx="705394" cy="705394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0" name="Oval 2">
                  <a:extLst>
                    <a:ext uri="{FF2B5EF4-FFF2-40B4-BE49-F238E27FC236}">
                      <a16:creationId xmlns:a16="http://schemas.microsoft.com/office/drawing/2014/main" id="{8C0C7931-653D-CAF4-E945-2758198E24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1305" y="3481520"/>
                  <a:ext cx="705394" cy="70539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4">
            <a:extLst>
              <a:ext uri="{FF2B5EF4-FFF2-40B4-BE49-F238E27FC236}">
                <a16:creationId xmlns:a16="http://schemas.microsoft.com/office/drawing/2014/main" id="{28C68D7E-18EC-0F97-7698-BDC0C3DD7D3C}"/>
              </a:ext>
            </a:extLst>
          </p:cNvPr>
          <p:cNvGrpSpPr/>
          <p:nvPr/>
        </p:nvGrpSpPr>
        <p:grpSpPr>
          <a:xfrm>
            <a:off x="1990083" y="1208329"/>
            <a:ext cx="1649360" cy="2582621"/>
            <a:chOff x="5497281" y="2497546"/>
            <a:chExt cx="705394" cy="34434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5">
                  <a:extLst>
                    <a:ext uri="{FF2B5EF4-FFF2-40B4-BE49-F238E27FC236}">
                      <a16:creationId xmlns:a16="http://schemas.microsoft.com/office/drawing/2014/main" id="{63020D48-8250-773D-F86C-0420C0DFC4D7}"/>
                    </a:ext>
                  </a:extLst>
                </p:cNvPr>
                <p:cNvSpPr/>
                <p:nvPr/>
              </p:nvSpPr>
              <p:spPr>
                <a:xfrm>
                  <a:off x="5497281" y="2497546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2" name="Oval 15">
                  <a:extLst>
                    <a:ext uri="{FF2B5EF4-FFF2-40B4-BE49-F238E27FC236}">
                      <a16:creationId xmlns:a16="http://schemas.microsoft.com/office/drawing/2014/main" id="{63020D48-8250-773D-F86C-0420C0DFC4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281" y="2497546"/>
                  <a:ext cx="705394" cy="70539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6">
                  <a:extLst>
                    <a:ext uri="{FF2B5EF4-FFF2-40B4-BE49-F238E27FC236}">
                      <a16:creationId xmlns:a16="http://schemas.microsoft.com/office/drawing/2014/main" id="{9D3ABB45-FF2A-8898-7054-8841A6DA1343}"/>
                    </a:ext>
                  </a:extLst>
                </p:cNvPr>
                <p:cNvSpPr/>
                <p:nvPr/>
              </p:nvSpPr>
              <p:spPr>
                <a:xfrm>
                  <a:off x="5497281" y="3866596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3" name="Oval 16">
                  <a:extLst>
                    <a:ext uri="{FF2B5EF4-FFF2-40B4-BE49-F238E27FC236}">
                      <a16:creationId xmlns:a16="http://schemas.microsoft.com/office/drawing/2014/main" id="{9D3ABB45-FF2A-8898-7054-8841A6DA13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281" y="3866596"/>
                  <a:ext cx="705394" cy="70539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val 17">
                  <a:extLst>
                    <a:ext uri="{FF2B5EF4-FFF2-40B4-BE49-F238E27FC236}">
                      <a16:creationId xmlns:a16="http://schemas.microsoft.com/office/drawing/2014/main" id="{1B16E1FF-9E7C-6AFF-78C3-C326043A0316}"/>
                    </a:ext>
                  </a:extLst>
                </p:cNvPr>
                <p:cNvSpPr/>
                <p:nvPr/>
              </p:nvSpPr>
              <p:spPr>
                <a:xfrm>
                  <a:off x="5497281" y="5235646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4" name="Oval 17">
                  <a:extLst>
                    <a:ext uri="{FF2B5EF4-FFF2-40B4-BE49-F238E27FC236}">
                      <a16:creationId xmlns:a16="http://schemas.microsoft.com/office/drawing/2014/main" id="{1B16E1FF-9E7C-6AFF-78C3-C326043A03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281" y="5235646"/>
                  <a:ext cx="705394" cy="705394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41A2538-1FF2-AF33-BC49-856E3C76D736}"/>
              </a:ext>
            </a:extLst>
          </p:cNvPr>
          <p:cNvGrpSpPr/>
          <p:nvPr/>
        </p:nvGrpSpPr>
        <p:grpSpPr>
          <a:xfrm>
            <a:off x="4657083" y="1793507"/>
            <a:ext cx="1800882" cy="1556486"/>
            <a:chOff x="2021305" y="2111600"/>
            <a:chExt cx="705394" cy="20753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">
                  <a:extLst>
                    <a:ext uri="{FF2B5EF4-FFF2-40B4-BE49-F238E27FC236}">
                      <a16:creationId xmlns:a16="http://schemas.microsoft.com/office/drawing/2014/main" id="{4E6E0A0B-F882-1101-D049-1302DCA09BD4}"/>
                    </a:ext>
                  </a:extLst>
                </p:cNvPr>
                <p:cNvSpPr/>
                <p:nvPr/>
              </p:nvSpPr>
              <p:spPr>
                <a:xfrm>
                  <a:off x="2021305" y="2111600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b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b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6" name="Oval 1">
                  <a:extLst>
                    <a:ext uri="{FF2B5EF4-FFF2-40B4-BE49-F238E27FC236}">
                      <a16:creationId xmlns:a16="http://schemas.microsoft.com/office/drawing/2014/main" id="{4E6E0A0B-F882-1101-D049-1302DCA09B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1305" y="2111600"/>
                  <a:ext cx="705394" cy="70539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2">
                  <a:extLst>
                    <a:ext uri="{FF2B5EF4-FFF2-40B4-BE49-F238E27FC236}">
                      <a16:creationId xmlns:a16="http://schemas.microsoft.com/office/drawing/2014/main" id="{F063437B-934F-3EFC-0506-A285DF9102E1}"/>
                    </a:ext>
                  </a:extLst>
                </p:cNvPr>
                <p:cNvSpPr/>
                <p:nvPr/>
              </p:nvSpPr>
              <p:spPr>
                <a:xfrm>
                  <a:off x="2021305" y="3481520"/>
                  <a:ext cx="705394" cy="705394"/>
                </a:xfrm>
                <a:prstGeom prst="ellips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b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b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oMath>
                    </m:oMathPara>
                  </a14:m>
                  <a:endParaRPr lang="es-ES_tradnl" dirty="0"/>
                </a:p>
              </p:txBody>
            </p:sp>
          </mc:Choice>
          <mc:Fallback xmlns="">
            <p:sp>
              <p:nvSpPr>
                <p:cNvPr id="17" name="Oval 2">
                  <a:extLst>
                    <a:ext uri="{FF2B5EF4-FFF2-40B4-BE49-F238E27FC236}">
                      <a16:creationId xmlns:a16="http://schemas.microsoft.com/office/drawing/2014/main" id="{F063437B-934F-3EFC-0506-A285DF9102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1305" y="3481520"/>
                  <a:ext cx="705394" cy="70539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s-P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8">
                <a:extLst>
                  <a:ext uri="{FF2B5EF4-FFF2-40B4-BE49-F238E27FC236}">
                    <a16:creationId xmlns:a16="http://schemas.microsoft.com/office/drawing/2014/main" id="{6084B860-206F-A5E9-4E61-006E815F85D2}"/>
                  </a:ext>
                </a:extLst>
              </p:cNvPr>
              <p:cNvSpPr/>
              <p:nvPr/>
            </p:nvSpPr>
            <p:spPr>
              <a:xfrm>
                <a:off x="7133318" y="2199451"/>
                <a:ext cx="1629682" cy="529046"/>
              </a:xfrm>
              <a:prstGeom prst="ellips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bSup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|</m:t>
                      </m:r>
                      <m:sSubSup>
                        <m:sSub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bSup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|</m:t>
                      </m:r>
                      <m:sSubSup>
                        <m:sSub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18" name="Oval 18">
                <a:extLst>
                  <a:ext uri="{FF2B5EF4-FFF2-40B4-BE49-F238E27FC236}">
                    <a16:creationId xmlns:a16="http://schemas.microsoft.com/office/drawing/2014/main" id="{6084B860-206F-A5E9-4E61-006E815F85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318" y="2199451"/>
                <a:ext cx="1629682" cy="529046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C836C1A-0EAA-C8E3-864C-488DD00126E8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757646" y="1472852"/>
            <a:ext cx="1232437" cy="6014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0">
            <a:extLst>
              <a:ext uri="{FF2B5EF4-FFF2-40B4-BE49-F238E27FC236}">
                <a16:creationId xmlns:a16="http://schemas.microsoft.com/office/drawing/2014/main" id="{9D42B26F-AF1E-5664-28A9-9F09477E5753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 flipV="1">
            <a:off x="757646" y="1472852"/>
            <a:ext cx="1232437" cy="162885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0">
            <a:extLst>
              <a:ext uri="{FF2B5EF4-FFF2-40B4-BE49-F238E27FC236}">
                <a16:creationId xmlns:a16="http://schemas.microsoft.com/office/drawing/2014/main" id="{60A500A3-D8DB-69B7-2F84-B8ADDE9062E0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757646" y="2074267"/>
            <a:ext cx="1232437" cy="42537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0">
            <a:extLst>
              <a:ext uri="{FF2B5EF4-FFF2-40B4-BE49-F238E27FC236}">
                <a16:creationId xmlns:a16="http://schemas.microsoft.com/office/drawing/2014/main" id="{9ECB6B78-EED6-26BE-613B-8271905CBA6D}"/>
              </a:ext>
            </a:extLst>
          </p:cNvPr>
          <p:cNvCxnSpPr>
            <a:cxnSpLocks/>
            <a:stCxn id="9" idx="6"/>
            <a:endCxn id="14" idx="2"/>
          </p:cNvCxnSpPr>
          <p:nvPr/>
        </p:nvCxnSpPr>
        <p:spPr>
          <a:xfrm>
            <a:off x="757646" y="2074267"/>
            <a:ext cx="1232437" cy="14521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20">
            <a:extLst>
              <a:ext uri="{FF2B5EF4-FFF2-40B4-BE49-F238E27FC236}">
                <a16:creationId xmlns:a16="http://schemas.microsoft.com/office/drawing/2014/main" id="{F38D88E1-6C77-9F81-E161-E2B239DB7454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 flipV="1">
            <a:off x="757646" y="2499640"/>
            <a:ext cx="1232437" cy="60206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20">
            <a:extLst>
              <a:ext uri="{FF2B5EF4-FFF2-40B4-BE49-F238E27FC236}">
                <a16:creationId xmlns:a16="http://schemas.microsoft.com/office/drawing/2014/main" id="{0968F1D8-9D6E-F2EA-1ADA-CB7A0B500D18}"/>
              </a:ext>
            </a:extLst>
          </p:cNvPr>
          <p:cNvCxnSpPr>
            <a:cxnSpLocks/>
            <a:stCxn id="10" idx="6"/>
            <a:endCxn id="14" idx="2"/>
          </p:cNvCxnSpPr>
          <p:nvPr/>
        </p:nvCxnSpPr>
        <p:spPr>
          <a:xfrm>
            <a:off x="757646" y="3101707"/>
            <a:ext cx="1232437" cy="4247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20">
            <a:extLst>
              <a:ext uri="{FF2B5EF4-FFF2-40B4-BE49-F238E27FC236}">
                <a16:creationId xmlns:a16="http://schemas.microsoft.com/office/drawing/2014/main" id="{B4BAC1DD-0B1F-9755-0932-3FA32BC1899F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>
            <a:off x="3639443" y="1472852"/>
            <a:ext cx="1017640" cy="5851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20">
            <a:extLst>
              <a:ext uri="{FF2B5EF4-FFF2-40B4-BE49-F238E27FC236}">
                <a16:creationId xmlns:a16="http://schemas.microsoft.com/office/drawing/2014/main" id="{C45521E7-DA42-4797-D85A-C9C1E04D134A}"/>
              </a:ext>
            </a:extLst>
          </p:cNvPr>
          <p:cNvCxnSpPr>
            <a:cxnSpLocks/>
            <a:stCxn id="13" idx="6"/>
            <a:endCxn id="16" idx="2"/>
          </p:cNvCxnSpPr>
          <p:nvPr/>
        </p:nvCxnSpPr>
        <p:spPr>
          <a:xfrm flipV="1">
            <a:off x="3639443" y="2058030"/>
            <a:ext cx="1017640" cy="44161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20">
            <a:extLst>
              <a:ext uri="{FF2B5EF4-FFF2-40B4-BE49-F238E27FC236}">
                <a16:creationId xmlns:a16="http://schemas.microsoft.com/office/drawing/2014/main" id="{08721F95-11B9-135E-7E40-DEDE908B5FCA}"/>
              </a:ext>
            </a:extLst>
          </p:cNvPr>
          <p:cNvCxnSpPr>
            <a:cxnSpLocks/>
            <a:stCxn id="14" idx="6"/>
            <a:endCxn id="17" idx="2"/>
          </p:cNvCxnSpPr>
          <p:nvPr/>
        </p:nvCxnSpPr>
        <p:spPr>
          <a:xfrm flipV="1">
            <a:off x="3639443" y="3085470"/>
            <a:ext cx="1017640" cy="44095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20">
            <a:extLst>
              <a:ext uri="{FF2B5EF4-FFF2-40B4-BE49-F238E27FC236}">
                <a16:creationId xmlns:a16="http://schemas.microsoft.com/office/drawing/2014/main" id="{8034FDF5-CC29-8913-046C-2C73F14A59D2}"/>
              </a:ext>
            </a:extLst>
          </p:cNvPr>
          <p:cNvCxnSpPr>
            <a:cxnSpLocks/>
            <a:stCxn id="13" idx="6"/>
            <a:endCxn id="17" idx="2"/>
          </p:cNvCxnSpPr>
          <p:nvPr/>
        </p:nvCxnSpPr>
        <p:spPr>
          <a:xfrm>
            <a:off x="3639443" y="2499640"/>
            <a:ext cx="1017640" cy="58583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20">
            <a:extLst>
              <a:ext uri="{FF2B5EF4-FFF2-40B4-BE49-F238E27FC236}">
                <a16:creationId xmlns:a16="http://schemas.microsoft.com/office/drawing/2014/main" id="{0F1F8ADD-0256-70C0-A8FD-885E9223BA84}"/>
              </a:ext>
            </a:extLst>
          </p:cNvPr>
          <p:cNvCxnSpPr>
            <a:cxnSpLocks/>
            <a:stCxn id="14" idx="6"/>
            <a:endCxn id="16" idx="2"/>
          </p:cNvCxnSpPr>
          <p:nvPr/>
        </p:nvCxnSpPr>
        <p:spPr>
          <a:xfrm flipV="1">
            <a:off x="3639443" y="2058030"/>
            <a:ext cx="1017640" cy="146839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20">
            <a:extLst>
              <a:ext uri="{FF2B5EF4-FFF2-40B4-BE49-F238E27FC236}">
                <a16:creationId xmlns:a16="http://schemas.microsoft.com/office/drawing/2014/main" id="{504253C5-CF5F-A7F8-CC56-A42AB2F7DD81}"/>
              </a:ext>
            </a:extLst>
          </p:cNvPr>
          <p:cNvCxnSpPr>
            <a:cxnSpLocks/>
            <a:stCxn id="12" idx="6"/>
            <a:endCxn id="17" idx="2"/>
          </p:cNvCxnSpPr>
          <p:nvPr/>
        </p:nvCxnSpPr>
        <p:spPr>
          <a:xfrm>
            <a:off x="3639443" y="1472852"/>
            <a:ext cx="1017640" cy="161261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20">
            <a:extLst>
              <a:ext uri="{FF2B5EF4-FFF2-40B4-BE49-F238E27FC236}">
                <a16:creationId xmlns:a16="http://schemas.microsoft.com/office/drawing/2014/main" id="{6FBEA9C4-0FB9-BF80-ED90-FFD8F3194AFE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>
          <a:xfrm>
            <a:off x="6457965" y="2058030"/>
            <a:ext cx="675353" cy="40594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20">
            <a:extLst>
              <a:ext uri="{FF2B5EF4-FFF2-40B4-BE49-F238E27FC236}">
                <a16:creationId xmlns:a16="http://schemas.microsoft.com/office/drawing/2014/main" id="{84E89E95-3554-281D-61A9-2A5F65AC118C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 flipV="1">
            <a:off x="6457965" y="2463974"/>
            <a:ext cx="675353" cy="62149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83435DB5-D079-2E1B-99AB-2D8D99D823DD}"/>
              </a:ext>
            </a:extLst>
          </p:cNvPr>
          <p:cNvSpPr txBox="1"/>
          <p:nvPr/>
        </p:nvSpPr>
        <p:spPr>
          <a:xfrm>
            <a:off x="2358226" y="405559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Layer</a:t>
            </a:r>
            <a:r>
              <a:rPr lang="es-ES" dirty="0"/>
              <a:t> 1</a:t>
            </a:r>
            <a:endParaRPr lang="es-PE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CC58FCF2-2924-F5E5-B1D0-A9BF2C2FEF58}"/>
              </a:ext>
            </a:extLst>
          </p:cNvPr>
          <p:cNvSpPr txBox="1"/>
          <p:nvPr/>
        </p:nvSpPr>
        <p:spPr>
          <a:xfrm>
            <a:off x="5080470" y="405559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Layer</a:t>
            </a:r>
            <a:r>
              <a:rPr lang="es-ES" dirty="0"/>
              <a:t> 2</a:t>
            </a:r>
            <a:endParaRPr lang="es-PE" dirty="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F735306-6FD6-DAD3-0E2F-5EC54FBA9C1B}"/>
              </a:ext>
            </a:extLst>
          </p:cNvPr>
          <p:cNvSpPr txBox="1"/>
          <p:nvPr/>
        </p:nvSpPr>
        <p:spPr>
          <a:xfrm>
            <a:off x="7432182" y="405559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Layer</a:t>
            </a:r>
            <a:r>
              <a:rPr lang="es-ES" dirty="0"/>
              <a:t> 3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E365A650-1C37-F41D-8605-70420FAB400E}"/>
                  </a:ext>
                </a:extLst>
              </p:cNvPr>
              <p:cNvSpPr txBox="1"/>
              <p:nvPr/>
            </p:nvSpPr>
            <p:spPr>
              <a:xfrm>
                <a:off x="981064" y="1396220"/>
                <a:ext cx="570156" cy="361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E365A650-1C37-F41D-8605-70420FAB4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64" y="1396220"/>
                <a:ext cx="570156" cy="36131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07C50B8F-592E-186B-79DF-DEBE65D6FA97}"/>
                  </a:ext>
                </a:extLst>
              </p:cNvPr>
              <p:cNvSpPr txBox="1"/>
              <p:nvPr/>
            </p:nvSpPr>
            <p:spPr>
              <a:xfrm>
                <a:off x="1615962" y="1666774"/>
                <a:ext cx="570156" cy="361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07C50B8F-592E-186B-79DF-DEBE65D6F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962" y="1666774"/>
                <a:ext cx="570156" cy="3613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E06D38DE-B4FE-2BF0-58DD-35217487939A}"/>
                  </a:ext>
                </a:extLst>
              </p:cNvPr>
              <p:cNvSpPr txBox="1"/>
              <p:nvPr/>
            </p:nvSpPr>
            <p:spPr>
              <a:xfrm>
                <a:off x="1553483" y="2045785"/>
                <a:ext cx="570156" cy="361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E06D38DE-B4FE-2BF0-58DD-352174879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483" y="2045785"/>
                <a:ext cx="570156" cy="36131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A78A155B-2651-0DB8-6AEA-040E26158D31}"/>
                  </a:ext>
                </a:extLst>
              </p:cNvPr>
              <p:cNvSpPr txBox="1"/>
              <p:nvPr/>
            </p:nvSpPr>
            <p:spPr>
              <a:xfrm>
                <a:off x="1517945" y="2614128"/>
                <a:ext cx="570156" cy="361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A78A155B-2651-0DB8-6AEA-040E26158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945" y="2614128"/>
                <a:ext cx="570156" cy="36131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9BFABD28-78D1-1997-64CF-4B521B0ED291}"/>
                  </a:ext>
                </a:extLst>
              </p:cNvPr>
              <p:cNvSpPr txBox="1"/>
              <p:nvPr/>
            </p:nvSpPr>
            <p:spPr>
              <a:xfrm>
                <a:off x="1703294" y="2984180"/>
                <a:ext cx="570156" cy="361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9BFABD28-78D1-1997-64CF-4B521B0ED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294" y="2984180"/>
                <a:ext cx="570156" cy="36131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78466696-B4D2-5E0A-C11E-5A230A977F4E}"/>
                  </a:ext>
                </a:extLst>
              </p:cNvPr>
              <p:cNvSpPr txBox="1"/>
              <p:nvPr/>
            </p:nvSpPr>
            <p:spPr>
              <a:xfrm>
                <a:off x="811170" y="3278875"/>
                <a:ext cx="570156" cy="361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78466696-B4D2-5E0A-C11E-5A230A977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70" y="3278875"/>
                <a:ext cx="570156" cy="36131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C92004C6-DC1E-5A0E-C14E-FEBDE3C8AD4B}"/>
                  </a:ext>
                </a:extLst>
              </p:cNvPr>
              <p:cNvSpPr txBox="1"/>
              <p:nvPr/>
            </p:nvSpPr>
            <p:spPr>
              <a:xfrm>
                <a:off x="3969728" y="1324759"/>
                <a:ext cx="570156" cy="36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C92004C6-DC1E-5A0E-C14E-FEBDE3C8A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728" y="1324759"/>
                <a:ext cx="570156" cy="36266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CF94B466-EAB9-7E1D-FF6E-06FE654718F8}"/>
                  </a:ext>
                </a:extLst>
              </p:cNvPr>
              <p:cNvSpPr txBox="1"/>
              <p:nvPr/>
            </p:nvSpPr>
            <p:spPr>
              <a:xfrm>
                <a:off x="3293029" y="1653423"/>
                <a:ext cx="570156" cy="36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CF94B466-EAB9-7E1D-FF6E-06FE65471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029" y="1653423"/>
                <a:ext cx="570156" cy="36266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605E2085-7205-A3C5-CDA9-DCD3BC0DB3D3}"/>
                  </a:ext>
                </a:extLst>
              </p:cNvPr>
              <p:cNvSpPr txBox="1"/>
              <p:nvPr/>
            </p:nvSpPr>
            <p:spPr>
              <a:xfrm>
                <a:off x="3399572" y="2038235"/>
                <a:ext cx="570156" cy="36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605E2085-7205-A3C5-CDA9-DCD3BC0DB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572" y="2038235"/>
                <a:ext cx="570156" cy="36266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A697BEE6-735D-F2A0-6191-5AF08E002DE9}"/>
                  </a:ext>
                </a:extLst>
              </p:cNvPr>
              <p:cNvSpPr txBox="1"/>
              <p:nvPr/>
            </p:nvSpPr>
            <p:spPr>
              <a:xfrm>
                <a:off x="3386556" y="2610896"/>
                <a:ext cx="570156" cy="36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A697BEE6-735D-F2A0-6191-5AF08E002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556" y="2610896"/>
                <a:ext cx="570156" cy="36266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239B4922-3A6C-E380-2832-1CCCD411B328}"/>
                  </a:ext>
                </a:extLst>
              </p:cNvPr>
              <p:cNvSpPr txBox="1"/>
              <p:nvPr/>
            </p:nvSpPr>
            <p:spPr>
              <a:xfrm>
                <a:off x="3327089" y="3008837"/>
                <a:ext cx="570156" cy="36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239B4922-3A6C-E380-2832-1CCCD411B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089" y="3008837"/>
                <a:ext cx="570156" cy="36266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A73F3C5F-D7D9-1BFF-C01C-08B22E760900}"/>
                  </a:ext>
                </a:extLst>
              </p:cNvPr>
              <p:cNvSpPr txBox="1"/>
              <p:nvPr/>
            </p:nvSpPr>
            <p:spPr>
              <a:xfrm>
                <a:off x="3673796" y="3422559"/>
                <a:ext cx="570156" cy="36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A73F3C5F-D7D9-1BFF-C01C-08B22E760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796" y="3422559"/>
                <a:ext cx="570156" cy="36266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96C76B02-4A79-AA55-49D3-11283B485CD0}"/>
                  </a:ext>
                </a:extLst>
              </p:cNvPr>
              <p:cNvSpPr txBox="1"/>
              <p:nvPr/>
            </p:nvSpPr>
            <p:spPr>
              <a:xfrm>
                <a:off x="6745853" y="1805988"/>
                <a:ext cx="570156" cy="361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96C76B02-4A79-AA55-49D3-11283B485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53" y="1805988"/>
                <a:ext cx="570156" cy="36131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uadroTexto 90">
                <a:extLst>
                  <a:ext uri="{FF2B5EF4-FFF2-40B4-BE49-F238E27FC236}">
                    <a16:creationId xmlns:a16="http://schemas.microsoft.com/office/drawing/2014/main" id="{A506934D-AA13-E908-73E5-41DEC9B4DC9F}"/>
                  </a:ext>
                </a:extLst>
              </p:cNvPr>
              <p:cNvSpPr txBox="1"/>
              <p:nvPr/>
            </p:nvSpPr>
            <p:spPr>
              <a:xfrm>
                <a:off x="6745853" y="2789727"/>
                <a:ext cx="570156" cy="361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PE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s-ES" sz="1400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91" name="CuadroTexto 90">
                <a:extLst>
                  <a:ext uri="{FF2B5EF4-FFF2-40B4-BE49-F238E27FC236}">
                    <a16:creationId xmlns:a16="http://schemas.microsoft.com/office/drawing/2014/main" id="{A506934D-AA13-E908-73E5-41DEC9B4D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53" y="2789727"/>
                <a:ext cx="570156" cy="36131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210">
            <a:extLst>
              <a:ext uri="{FF2B5EF4-FFF2-40B4-BE49-F238E27FC236}">
                <a16:creationId xmlns:a16="http://schemas.microsoft.com/office/drawing/2014/main" id="{A68B7FAB-5A89-C0EF-C6D3-DFF0524046C3}"/>
              </a:ext>
            </a:extLst>
          </p:cNvPr>
          <p:cNvSpPr txBox="1"/>
          <p:nvPr/>
        </p:nvSpPr>
        <p:spPr>
          <a:xfrm>
            <a:off x="78739" y="768035"/>
            <a:ext cx="1380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>
                <a:solidFill>
                  <a:schemeClr val="accent1"/>
                </a:solidFill>
              </a:rPr>
              <a:t>Capa de entrada</a:t>
            </a:r>
          </a:p>
        </p:txBody>
      </p:sp>
      <p:sp>
        <p:nvSpPr>
          <p:cNvPr id="95" name="TextBox 211">
            <a:extLst>
              <a:ext uri="{FF2B5EF4-FFF2-40B4-BE49-F238E27FC236}">
                <a16:creationId xmlns:a16="http://schemas.microsoft.com/office/drawing/2014/main" id="{BD5F8046-678F-18B4-0A8F-AC78B8EDC6C6}"/>
              </a:ext>
            </a:extLst>
          </p:cNvPr>
          <p:cNvSpPr txBox="1"/>
          <p:nvPr/>
        </p:nvSpPr>
        <p:spPr>
          <a:xfrm>
            <a:off x="3922133" y="754845"/>
            <a:ext cx="1226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>
                <a:solidFill>
                  <a:srgbClr val="7030A0"/>
                </a:solidFill>
              </a:rPr>
              <a:t>Capas ocultas</a:t>
            </a:r>
          </a:p>
        </p:txBody>
      </p:sp>
      <p:sp>
        <p:nvSpPr>
          <p:cNvPr id="96" name="TextBox 212">
            <a:extLst>
              <a:ext uri="{FF2B5EF4-FFF2-40B4-BE49-F238E27FC236}">
                <a16:creationId xmlns:a16="http://schemas.microsoft.com/office/drawing/2014/main" id="{75658527-40FF-8DC8-0B2A-1CA9648C19A8}"/>
              </a:ext>
            </a:extLst>
          </p:cNvPr>
          <p:cNvSpPr txBox="1"/>
          <p:nvPr/>
        </p:nvSpPr>
        <p:spPr>
          <a:xfrm>
            <a:off x="7506894" y="768035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>
                <a:solidFill>
                  <a:srgbClr val="00B050"/>
                </a:solidFill>
              </a:rPr>
              <a:t>Capa de salida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1AB597EA-0DEC-873F-4F5E-6350D1EAFD2B}"/>
              </a:ext>
            </a:extLst>
          </p:cNvPr>
          <p:cNvSpPr txBox="1"/>
          <p:nvPr/>
        </p:nvSpPr>
        <p:spPr>
          <a:xfrm>
            <a:off x="78739" y="402482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Layer</a:t>
            </a:r>
            <a:r>
              <a:rPr lang="es-ES" dirty="0"/>
              <a:t> 0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2302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EED46-2FD1-17E7-40DD-62877755F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39F355EB-2777-DF18-7B05-C9A0B0A8C5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25" name="Título 6">
            <a:extLst>
              <a:ext uri="{FF2B5EF4-FFF2-40B4-BE49-F238E27FC236}">
                <a16:creationId xmlns:a16="http://schemas.microsoft.com/office/drawing/2014/main" id="{6FBC4CF3-EEEC-31AC-CDDA-275BAA473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455157"/>
          </a:xfrm>
        </p:spPr>
        <p:txBody>
          <a:bodyPr/>
          <a:lstStyle/>
          <a:p>
            <a:r>
              <a:rPr lang="es-PE" sz="2400" dirty="0" err="1"/>
              <a:t>Backpropagation</a:t>
            </a:r>
            <a:br>
              <a:rPr lang="es-PE" sz="2400" b="0" dirty="0"/>
            </a:br>
            <a:endParaRPr lang="es-PE" sz="24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7C43F53C-8E3A-2040-4E81-F5727A052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9" y="1177345"/>
            <a:ext cx="8001000" cy="1306789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0C9739B2-8491-1413-D47C-60E57D29B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53" y="3486150"/>
            <a:ext cx="7595937" cy="762000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50F8870A-5189-C149-632E-261AC26A467F}"/>
              </a:ext>
            </a:extLst>
          </p:cNvPr>
          <p:cNvSpPr txBox="1"/>
          <p:nvPr/>
        </p:nvSpPr>
        <p:spPr>
          <a:xfrm>
            <a:off x="304800" y="617293"/>
            <a:ext cx="23535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Regla de la cadena</a:t>
            </a:r>
            <a:endParaRPr lang="es-PE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D272470-8C54-50F4-17C3-4055C4C726BD}"/>
              </a:ext>
            </a:extLst>
          </p:cNvPr>
          <p:cNvSpPr txBox="1"/>
          <p:nvPr/>
        </p:nvSpPr>
        <p:spPr>
          <a:xfrm>
            <a:off x="304800" y="2952750"/>
            <a:ext cx="3395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Error imputado a la neurona</a:t>
            </a:r>
            <a:endParaRPr lang="es-PE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398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0CF00-3E78-D718-652B-15785EC9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EB3E14E0-D4E7-BB57-0994-73C2285381D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25" name="Título 6">
            <a:extLst>
              <a:ext uri="{FF2B5EF4-FFF2-40B4-BE49-F238E27FC236}">
                <a16:creationId xmlns:a16="http://schemas.microsoft.com/office/drawing/2014/main" id="{EC217D43-6984-EB89-5500-4E4BE4DBF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9240"/>
            <a:ext cx="5211445" cy="455157"/>
          </a:xfrm>
        </p:spPr>
        <p:txBody>
          <a:bodyPr/>
          <a:lstStyle/>
          <a:p>
            <a:r>
              <a:rPr lang="es-PE" sz="2400" dirty="0" err="1"/>
              <a:t>Backpropagation</a:t>
            </a:r>
            <a:br>
              <a:rPr lang="es-PE" sz="2400" b="0" dirty="0"/>
            </a:br>
            <a:endParaRPr lang="es-PE" sz="24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4C74251-6099-589A-CE98-E4B255307F3D}"/>
              </a:ext>
            </a:extLst>
          </p:cNvPr>
          <p:cNvSpPr txBox="1"/>
          <p:nvPr/>
        </p:nvSpPr>
        <p:spPr>
          <a:xfrm>
            <a:off x="304800" y="617293"/>
            <a:ext cx="5360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Propagación del error hacia capas anteriores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5F63D1-4ED2-CCB0-02A6-C0112033D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24" y="1051336"/>
            <a:ext cx="5476327" cy="116708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D4A6145-8AFD-0B4C-6A3F-93B8D542DB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040"/>
          <a:stretch>
            <a:fillRect/>
          </a:stretch>
        </p:blipFill>
        <p:spPr>
          <a:xfrm>
            <a:off x="2542892" y="3714750"/>
            <a:ext cx="4058216" cy="93870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0F3DABF-FAC7-EADD-F8AF-4971D1E34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073" y="2382779"/>
            <a:ext cx="2902215" cy="100979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FCF084-84AD-AE29-9C8F-06777C1644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8182" y="2513204"/>
            <a:ext cx="1514761" cy="84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25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74C5B-E500-C6E2-172F-3E9CC7739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0BED34B-8F78-FCFA-B997-344CC245E0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163" y="2125167"/>
            <a:ext cx="65716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30" dirty="0">
                <a:latin typeface="Roboto"/>
                <a:cs typeface="Roboto"/>
              </a:rPr>
              <a:t>Funciones</a:t>
            </a:r>
            <a:r>
              <a:rPr sz="4800" b="0" spc="-120" dirty="0">
                <a:latin typeface="Roboto"/>
                <a:cs typeface="Roboto"/>
              </a:rPr>
              <a:t> </a:t>
            </a:r>
            <a:r>
              <a:rPr sz="4800" b="0" dirty="0">
                <a:latin typeface="Roboto"/>
                <a:cs typeface="Roboto"/>
              </a:rPr>
              <a:t>de</a:t>
            </a:r>
            <a:r>
              <a:rPr sz="4800" b="0" spc="-114" dirty="0">
                <a:latin typeface="Roboto"/>
                <a:cs typeface="Roboto"/>
              </a:rPr>
              <a:t> </a:t>
            </a:r>
            <a:r>
              <a:rPr sz="4800" b="0" spc="-10" dirty="0">
                <a:latin typeface="Roboto"/>
                <a:cs typeface="Roboto"/>
              </a:rPr>
              <a:t>activación</a:t>
            </a:r>
            <a:endParaRPr sz="48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76178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Funciones</a:t>
            </a:r>
            <a:r>
              <a:rPr spc="-1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activación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4901" y="691642"/>
            <a:ext cx="3067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900" algn="l"/>
              </a:tabLst>
            </a:pPr>
            <a:r>
              <a:rPr sz="1600" spc="-350" dirty="0">
                <a:latin typeface="Roboto"/>
                <a:cs typeface="Roboto"/>
              </a:rPr>
              <a:t>-</a:t>
            </a:r>
            <a:r>
              <a:rPr sz="1600" dirty="0">
                <a:latin typeface="Roboto"/>
                <a:cs typeface="Roboto"/>
              </a:rPr>
              <a:t>	</a:t>
            </a:r>
            <a:r>
              <a:rPr sz="1600" b="1" dirty="0">
                <a:latin typeface="Roboto"/>
                <a:cs typeface="Roboto"/>
              </a:rPr>
              <a:t>No</a:t>
            </a:r>
            <a:r>
              <a:rPr sz="1600" b="1" spc="-25" dirty="0">
                <a:latin typeface="Roboto"/>
                <a:cs typeface="Roboto"/>
              </a:rPr>
              <a:t> </a:t>
            </a:r>
            <a:r>
              <a:rPr sz="1600" b="1" dirty="0">
                <a:latin typeface="Roboto"/>
                <a:cs typeface="Roboto"/>
              </a:rPr>
              <a:t>usar</a:t>
            </a:r>
            <a:r>
              <a:rPr sz="1600" b="1" spc="10" dirty="0">
                <a:latin typeface="Roboto"/>
                <a:cs typeface="Roboto"/>
              </a:rPr>
              <a:t> </a:t>
            </a:r>
            <a:r>
              <a:rPr sz="1600" b="1" dirty="0">
                <a:latin typeface="Roboto"/>
                <a:cs typeface="Roboto"/>
              </a:rPr>
              <a:t>función de</a:t>
            </a:r>
            <a:r>
              <a:rPr sz="1600" b="1" spc="-10" dirty="0">
                <a:latin typeface="Roboto"/>
                <a:cs typeface="Roboto"/>
              </a:rPr>
              <a:t> activación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04108" y="1767967"/>
            <a:ext cx="4019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Roboto"/>
                <a:cs typeface="Roboto"/>
              </a:rPr>
              <a:t>(...)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0004" y="106070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(3)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37026" y="23267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732" y="42799"/>
                </a:lnTo>
                <a:lnTo>
                  <a:pt x="214630" y="42799"/>
                </a:lnTo>
                <a:lnTo>
                  <a:pt x="214630" y="33274"/>
                </a:lnTo>
                <a:lnTo>
                  <a:pt x="268478" y="33274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30" y="42799"/>
                </a:lnTo>
                <a:lnTo>
                  <a:pt x="201930" y="33274"/>
                </a:lnTo>
                <a:close/>
              </a:path>
              <a:path w="278129" h="76200">
                <a:moveTo>
                  <a:pt x="268478" y="33274"/>
                </a:moveTo>
                <a:lnTo>
                  <a:pt x="214630" y="33274"/>
                </a:lnTo>
                <a:lnTo>
                  <a:pt x="214630" y="42799"/>
                </a:lnTo>
                <a:lnTo>
                  <a:pt x="268732" y="42799"/>
                </a:lnTo>
                <a:lnTo>
                  <a:pt x="278130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37026" y="2038476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37026" y="164757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2" y="33400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29" h="76200">
                <a:moveTo>
                  <a:pt x="268732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2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37026" y="12865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30" y="0"/>
                </a:moveTo>
                <a:lnTo>
                  <a:pt x="201930" y="76200"/>
                </a:lnTo>
                <a:lnTo>
                  <a:pt x="268732" y="42799"/>
                </a:lnTo>
                <a:lnTo>
                  <a:pt x="214630" y="42799"/>
                </a:lnTo>
                <a:lnTo>
                  <a:pt x="214630" y="33274"/>
                </a:lnTo>
                <a:lnTo>
                  <a:pt x="268478" y="33274"/>
                </a:lnTo>
                <a:lnTo>
                  <a:pt x="201930" y="0"/>
                </a:lnTo>
                <a:close/>
              </a:path>
              <a:path w="278129" h="76200">
                <a:moveTo>
                  <a:pt x="20193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30" y="42799"/>
                </a:lnTo>
                <a:lnTo>
                  <a:pt x="201930" y="33274"/>
                </a:lnTo>
                <a:close/>
              </a:path>
              <a:path w="278129" h="76200">
                <a:moveTo>
                  <a:pt x="268478" y="33274"/>
                </a:moveTo>
                <a:lnTo>
                  <a:pt x="214630" y="33274"/>
                </a:lnTo>
                <a:lnTo>
                  <a:pt x="214630" y="42799"/>
                </a:lnTo>
                <a:lnTo>
                  <a:pt x="268732" y="42799"/>
                </a:lnTo>
                <a:lnTo>
                  <a:pt x="278130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3009" y="1199134"/>
            <a:ext cx="361315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69850">
              <a:lnSpc>
                <a:spcPct val="150000"/>
              </a:lnSpc>
              <a:spcBef>
                <a:spcPts val="100"/>
              </a:spcBef>
            </a:pPr>
            <a:r>
              <a:rPr sz="2250" spc="-37" baseline="12962" dirty="0">
                <a:latin typeface="Roboto"/>
                <a:cs typeface="Roboto"/>
              </a:rPr>
              <a:t>X</a:t>
            </a:r>
            <a:r>
              <a:rPr sz="1000" spc="-25" dirty="0">
                <a:latin typeface="Roboto"/>
                <a:cs typeface="Roboto"/>
              </a:rPr>
              <a:t>i,1 </a:t>
            </a:r>
            <a:r>
              <a:rPr sz="2250" spc="-37" baseline="12962" dirty="0">
                <a:latin typeface="Roboto"/>
                <a:cs typeface="Roboto"/>
              </a:rPr>
              <a:t>X</a:t>
            </a:r>
            <a:r>
              <a:rPr sz="1000" spc="-25" dirty="0">
                <a:latin typeface="Roboto"/>
                <a:cs typeface="Roboto"/>
              </a:rPr>
              <a:t>i,2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30"/>
              </a:spcBef>
            </a:pPr>
            <a:r>
              <a:rPr sz="1000" spc="-50" dirty="0">
                <a:latin typeface="Roboto"/>
                <a:cs typeface="Roboto"/>
              </a:rPr>
              <a:t>…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70"/>
              </a:spcBef>
            </a:pPr>
            <a:r>
              <a:rPr sz="2250" spc="-30" baseline="12962" dirty="0">
                <a:latin typeface="Roboto"/>
                <a:cs typeface="Roboto"/>
              </a:rPr>
              <a:t>X</a:t>
            </a:r>
            <a:r>
              <a:rPr sz="1000" spc="-20" dirty="0">
                <a:latin typeface="Roboto"/>
                <a:cs typeface="Roboto"/>
              </a:rPr>
              <a:t>i,m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3970" y="1052957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30755" y="1052957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(2)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2259" y="2326639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6"/>
                </a:lnTo>
                <a:lnTo>
                  <a:pt x="368198" y="42926"/>
                </a:lnTo>
                <a:lnTo>
                  <a:pt x="368198" y="33401"/>
                </a:lnTo>
                <a:lnTo>
                  <a:pt x="422300" y="33401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1"/>
                </a:moveTo>
                <a:lnTo>
                  <a:pt x="0" y="33401"/>
                </a:lnTo>
                <a:lnTo>
                  <a:pt x="0" y="42926"/>
                </a:lnTo>
                <a:lnTo>
                  <a:pt x="355498" y="42926"/>
                </a:lnTo>
                <a:lnTo>
                  <a:pt x="355498" y="33401"/>
                </a:lnTo>
                <a:close/>
              </a:path>
              <a:path w="431800" h="76200">
                <a:moveTo>
                  <a:pt x="422300" y="33401"/>
                </a:moveTo>
                <a:lnTo>
                  <a:pt x="368198" y="33401"/>
                </a:lnTo>
                <a:lnTo>
                  <a:pt x="368198" y="42926"/>
                </a:lnTo>
                <a:lnTo>
                  <a:pt x="422046" y="42926"/>
                </a:lnTo>
                <a:lnTo>
                  <a:pt x="431698" y="38100"/>
                </a:lnTo>
                <a:lnTo>
                  <a:pt x="422300" y="33401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2259" y="2038476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2259" y="164757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300" y="42799"/>
                </a:lnTo>
                <a:lnTo>
                  <a:pt x="368198" y="42799"/>
                </a:lnTo>
                <a:lnTo>
                  <a:pt x="368198" y="33274"/>
                </a:lnTo>
                <a:lnTo>
                  <a:pt x="422046" y="33274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55498" y="42799"/>
                </a:lnTo>
                <a:lnTo>
                  <a:pt x="355498" y="33274"/>
                </a:lnTo>
                <a:close/>
              </a:path>
              <a:path w="431800" h="76200">
                <a:moveTo>
                  <a:pt x="422046" y="33274"/>
                </a:moveTo>
                <a:lnTo>
                  <a:pt x="368198" y="33274"/>
                </a:lnTo>
                <a:lnTo>
                  <a:pt x="368198" y="42799"/>
                </a:lnTo>
                <a:lnTo>
                  <a:pt x="422300" y="42799"/>
                </a:lnTo>
                <a:lnTo>
                  <a:pt x="431698" y="38100"/>
                </a:lnTo>
                <a:lnTo>
                  <a:pt x="422046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2259" y="1286383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44116" y="2326639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803" y="0"/>
                </a:moveTo>
                <a:lnTo>
                  <a:pt x="201803" y="76200"/>
                </a:lnTo>
                <a:lnTo>
                  <a:pt x="268350" y="42926"/>
                </a:lnTo>
                <a:lnTo>
                  <a:pt x="214503" y="42926"/>
                </a:lnTo>
                <a:lnTo>
                  <a:pt x="214503" y="33401"/>
                </a:lnTo>
                <a:lnTo>
                  <a:pt x="268605" y="33401"/>
                </a:lnTo>
                <a:lnTo>
                  <a:pt x="201803" y="0"/>
                </a:lnTo>
                <a:close/>
              </a:path>
              <a:path w="278130" h="76200">
                <a:moveTo>
                  <a:pt x="201803" y="33401"/>
                </a:moveTo>
                <a:lnTo>
                  <a:pt x="0" y="33401"/>
                </a:lnTo>
                <a:lnTo>
                  <a:pt x="0" y="42926"/>
                </a:lnTo>
                <a:lnTo>
                  <a:pt x="201803" y="42926"/>
                </a:lnTo>
                <a:lnTo>
                  <a:pt x="201803" y="33401"/>
                </a:lnTo>
                <a:close/>
              </a:path>
              <a:path w="278130" h="76200">
                <a:moveTo>
                  <a:pt x="268605" y="33401"/>
                </a:moveTo>
                <a:lnTo>
                  <a:pt x="214503" y="33401"/>
                </a:lnTo>
                <a:lnTo>
                  <a:pt x="214503" y="42926"/>
                </a:lnTo>
                <a:lnTo>
                  <a:pt x="268350" y="42926"/>
                </a:lnTo>
                <a:lnTo>
                  <a:pt x="278003" y="38100"/>
                </a:lnTo>
                <a:lnTo>
                  <a:pt x="268605" y="33401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44116" y="2038476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803" y="0"/>
                </a:moveTo>
                <a:lnTo>
                  <a:pt x="201803" y="76200"/>
                </a:lnTo>
                <a:lnTo>
                  <a:pt x="268351" y="42925"/>
                </a:lnTo>
                <a:lnTo>
                  <a:pt x="214503" y="42925"/>
                </a:lnTo>
                <a:lnTo>
                  <a:pt x="214503" y="33400"/>
                </a:lnTo>
                <a:lnTo>
                  <a:pt x="268604" y="33400"/>
                </a:lnTo>
                <a:lnTo>
                  <a:pt x="201803" y="0"/>
                </a:lnTo>
                <a:close/>
              </a:path>
              <a:path w="278130" h="76200">
                <a:moveTo>
                  <a:pt x="201803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803" y="42925"/>
                </a:lnTo>
                <a:lnTo>
                  <a:pt x="201803" y="33400"/>
                </a:lnTo>
                <a:close/>
              </a:path>
              <a:path w="278130" h="76200">
                <a:moveTo>
                  <a:pt x="268604" y="33400"/>
                </a:moveTo>
                <a:lnTo>
                  <a:pt x="214503" y="33400"/>
                </a:lnTo>
                <a:lnTo>
                  <a:pt x="214503" y="42925"/>
                </a:lnTo>
                <a:lnTo>
                  <a:pt x="268351" y="42925"/>
                </a:lnTo>
                <a:lnTo>
                  <a:pt x="278003" y="38100"/>
                </a:lnTo>
                <a:lnTo>
                  <a:pt x="268604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44116" y="164757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803" y="0"/>
                </a:moveTo>
                <a:lnTo>
                  <a:pt x="201803" y="76200"/>
                </a:lnTo>
                <a:lnTo>
                  <a:pt x="268604" y="42799"/>
                </a:lnTo>
                <a:lnTo>
                  <a:pt x="214503" y="42799"/>
                </a:lnTo>
                <a:lnTo>
                  <a:pt x="214503" y="33274"/>
                </a:lnTo>
                <a:lnTo>
                  <a:pt x="268351" y="33274"/>
                </a:lnTo>
                <a:lnTo>
                  <a:pt x="201803" y="0"/>
                </a:lnTo>
                <a:close/>
              </a:path>
              <a:path w="278130" h="76200">
                <a:moveTo>
                  <a:pt x="201803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803" y="42799"/>
                </a:lnTo>
                <a:lnTo>
                  <a:pt x="201803" y="33274"/>
                </a:lnTo>
                <a:close/>
              </a:path>
              <a:path w="278130" h="76200">
                <a:moveTo>
                  <a:pt x="268351" y="33274"/>
                </a:moveTo>
                <a:lnTo>
                  <a:pt x="214503" y="33274"/>
                </a:lnTo>
                <a:lnTo>
                  <a:pt x="214503" y="42799"/>
                </a:lnTo>
                <a:lnTo>
                  <a:pt x="268604" y="42799"/>
                </a:lnTo>
                <a:lnTo>
                  <a:pt x="278003" y="38100"/>
                </a:lnTo>
                <a:lnTo>
                  <a:pt x="268351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44116" y="1286383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803" y="0"/>
                </a:moveTo>
                <a:lnTo>
                  <a:pt x="201803" y="76200"/>
                </a:lnTo>
                <a:lnTo>
                  <a:pt x="268351" y="42925"/>
                </a:lnTo>
                <a:lnTo>
                  <a:pt x="214503" y="42925"/>
                </a:lnTo>
                <a:lnTo>
                  <a:pt x="214503" y="33400"/>
                </a:lnTo>
                <a:lnTo>
                  <a:pt x="268604" y="33400"/>
                </a:lnTo>
                <a:lnTo>
                  <a:pt x="201803" y="0"/>
                </a:lnTo>
                <a:close/>
              </a:path>
              <a:path w="278130" h="76200">
                <a:moveTo>
                  <a:pt x="201803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803" y="42925"/>
                </a:lnTo>
                <a:lnTo>
                  <a:pt x="201803" y="33400"/>
                </a:lnTo>
                <a:close/>
              </a:path>
              <a:path w="278130" h="76200">
                <a:moveTo>
                  <a:pt x="268604" y="33400"/>
                </a:moveTo>
                <a:lnTo>
                  <a:pt x="214503" y="33400"/>
                </a:lnTo>
                <a:lnTo>
                  <a:pt x="214503" y="42925"/>
                </a:lnTo>
                <a:lnTo>
                  <a:pt x="268351" y="42925"/>
                </a:lnTo>
                <a:lnTo>
                  <a:pt x="278003" y="38100"/>
                </a:lnTo>
                <a:lnTo>
                  <a:pt x="268604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82189" y="2326639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30" y="0"/>
                </a:moveTo>
                <a:lnTo>
                  <a:pt x="201930" y="76200"/>
                </a:lnTo>
                <a:lnTo>
                  <a:pt x="268477" y="42926"/>
                </a:lnTo>
                <a:lnTo>
                  <a:pt x="214630" y="42926"/>
                </a:lnTo>
                <a:lnTo>
                  <a:pt x="214630" y="33401"/>
                </a:lnTo>
                <a:lnTo>
                  <a:pt x="268732" y="33401"/>
                </a:lnTo>
                <a:lnTo>
                  <a:pt x="201930" y="0"/>
                </a:lnTo>
                <a:close/>
              </a:path>
              <a:path w="278130" h="76200">
                <a:moveTo>
                  <a:pt x="201930" y="33401"/>
                </a:moveTo>
                <a:lnTo>
                  <a:pt x="0" y="33401"/>
                </a:lnTo>
                <a:lnTo>
                  <a:pt x="0" y="42926"/>
                </a:lnTo>
                <a:lnTo>
                  <a:pt x="201930" y="42926"/>
                </a:lnTo>
                <a:lnTo>
                  <a:pt x="201930" y="33401"/>
                </a:lnTo>
                <a:close/>
              </a:path>
              <a:path w="278130" h="76200">
                <a:moveTo>
                  <a:pt x="268732" y="33401"/>
                </a:moveTo>
                <a:lnTo>
                  <a:pt x="214630" y="33401"/>
                </a:lnTo>
                <a:lnTo>
                  <a:pt x="214630" y="42926"/>
                </a:lnTo>
                <a:lnTo>
                  <a:pt x="268477" y="42926"/>
                </a:lnTo>
                <a:lnTo>
                  <a:pt x="278130" y="38100"/>
                </a:lnTo>
                <a:lnTo>
                  <a:pt x="268732" y="33401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82189" y="2038476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1" y="33400"/>
                </a:lnTo>
                <a:lnTo>
                  <a:pt x="201930" y="0"/>
                </a:lnTo>
                <a:close/>
              </a:path>
              <a:path w="278130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82189" y="164757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30" y="0"/>
                </a:moveTo>
                <a:lnTo>
                  <a:pt x="201930" y="76200"/>
                </a:lnTo>
                <a:lnTo>
                  <a:pt x="268731" y="42799"/>
                </a:lnTo>
                <a:lnTo>
                  <a:pt x="214630" y="42799"/>
                </a:lnTo>
                <a:lnTo>
                  <a:pt x="214630" y="33274"/>
                </a:lnTo>
                <a:lnTo>
                  <a:pt x="268478" y="33274"/>
                </a:lnTo>
                <a:lnTo>
                  <a:pt x="201930" y="0"/>
                </a:lnTo>
                <a:close/>
              </a:path>
              <a:path w="278130" h="76200">
                <a:moveTo>
                  <a:pt x="20193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30" y="42799"/>
                </a:lnTo>
                <a:lnTo>
                  <a:pt x="201930" y="33274"/>
                </a:lnTo>
                <a:close/>
              </a:path>
              <a:path w="278130" h="76200">
                <a:moveTo>
                  <a:pt x="268478" y="33274"/>
                </a:moveTo>
                <a:lnTo>
                  <a:pt x="214630" y="33274"/>
                </a:lnTo>
                <a:lnTo>
                  <a:pt x="214630" y="42799"/>
                </a:lnTo>
                <a:lnTo>
                  <a:pt x="268731" y="42799"/>
                </a:lnTo>
                <a:lnTo>
                  <a:pt x="278130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282189" y="1286383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30" y="0"/>
                </a:moveTo>
                <a:lnTo>
                  <a:pt x="201930" y="76200"/>
                </a:lnTo>
                <a:lnTo>
                  <a:pt x="268478" y="42925"/>
                </a:lnTo>
                <a:lnTo>
                  <a:pt x="214630" y="42925"/>
                </a:lnTo>
                <a:lnTo>
                  <a:pt x="214630" y="33400"/>
                </a:lnTo>
                <a:lnTo>
                  <a:pt x="268731" y="33400"/>
                </a:lnTo>
                <a:lnTo>
                  <a:pt x="201930" y="0"/>
                </a:lnTo>
                <a:close/>
              </a:path>
              <a:path w="278130" h="76200">
                <a:moveTo>
                  <a:pt x="20193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30" y="42925"/>
                </a:lnTo>
                <a:lnTo>
                  <a:pt x="201930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30" y="33400"/>
                </a:lnTo>
                <a:lnTo>
                  <a:pt x="214630" y="42925"/>
                </a:lnTo>
                <a:lnTo>
                  <a:pt x="268478" y="42925"/>
                </a:lnTo>
                <a:lnTo>
                  <a:pt x="278130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4569" y="1060640"/>
            <a:ext cx="1812925" cy="30321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4569" y="1534096"/>
            <a:ext cx="1916176" cy="30321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77940" y="3063367"/>
            <a:ext cx="239712" cy="187325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5283200" y="1503146"/>
            <a:ext cx="3556000" cy="1476375"/>
            <a:chOff x="5283200" y="1503146"/>
            <a:chExt cx="3556000" cy="1476375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25261" y="1503146"/>
              <a:ext cx="2764663" cy="46433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3200" y="2007362"/>
              <a:ext cx="3556000" cy="46355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959729" y="2433192"/>
              <a:ext cx="2065655" cy="546100"/>
            </a:xfrm>
            <a:custGeom>
              <a:avLst/>
              <a:gdLst/>
              <a:ahLst/>
              <a:cxnLst/>
              <a:rect l="l" t="t" r="r" b="b"/>
              <a:pathLst>
                <a:path w="2065654" h="546100">
                  <a:moveTo>
                    <a:pt x="76200" y="469900"/>
                  </a:moveTo>
                  <a:lnTo>
                    <a:pt x="42799" y="469900"/>
                  </a:lnTo>
                  <a:lnTo>
                    <a:pt x="42799" y="0"/>
                  </a:lnTo>
                  <a:lnTo>
                    <a:pt x="33274" y="0"/>
                  </a:lnTo>
                  <a:lnTo>
                    <a:pt x="33274" y="469900"/>
                  </a:lnTo>
                  <a:lnTo>
                    <a:pt x="0" y="469900"/>
                  </a:lnTo>
                  <a:lnTo>
                    <a:pt x="38100" y="546100"/>
                  </a:lnTo>
                  <a:lnTo>
                    <a:pt x="69850" y="482600"/>
                  </a:lnTo>
                  <a:lnTo>
                    <a:pt x="76200" y="469900"/>
                  </a:lnTo>
                  <a:close/>
                </a:path>
                <a:path w="2065654" h="546100">
                  <a:moveTo>
                    <a:pt x="2065528" y="469900"/>
                  </a:moveTo>
                  <a:lnTo>
                    <a:pt x="2032127" y="469900"/>
                  </a:lnTo>
                  <a:lnTo>
                    <a:pt x="2032127" y="0"/>
                  </a:lnTo>
                  <a:lnTo>
                    <a:pt x="2022602" y="0"/>
                  </a:lnTo>
                  <a:lnTo>
                    <a:pt x="2022602" y="469900"/>
                  </a:lnTo>
                  <a:lnTo>
                    <a:pt x="1989328" y="469900"/>
                  </a:lnTo>
                  <a:lnTo>
                    <a:pt x="2027428" y="546100"/>
                  </a:lnTo>
                  <a:lnTo>
                    <a:pt x="2059178" y="482600"/>
                  </a:lnTo>
                  <a:lnTo>
                    <a:pt x="2065528" y="4699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11338" y="3063367"/>
            <a:ext cx="111123" cy="187325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4044569" y="1955164"/>
            <a:ext cx="1393825" cy="1742439"/>
            <a:chOff x="4044569" y="1955164"/>
            <a:chExt cx="1393825" cy="1742439"/>
          </a:xfrm>
        </p:grpSpPr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44569" y="3465448"/>
              <a:ext cx="1393825" cy="23177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102481" y="1955164"/>
              <a:ext cx="76200" cy="1490980"/>
            </a:xfrm>
            <a:custGeom>
              <a:avLst/>
              <a:gdLst/>
              <a:ahLst/>
              <a:cxnLst/>
              <a:rect l="l" t="t" r="r" b="b"/>
              <a:pathLst>
                <a:path w="76200" h="1490979">
                  <a:moveTo>
                    <a:pt x="33401" y="1414780"/>
                  </a:moveTo>
                  <a:lnTo>
                    <a:pt x="0" y="1414780"/>
                  </a:lnTo>
                  <a:lnTo>
                    <a:pt x="38100" y="1490980"/>
                  </a:lnTo>
                  <a:lnTo>
                    <a:pt x="69850" y="1427480"/>
                  </a:lnTo>
                  <a:lnTo>
                    <a:pt x="33401" y="1427480"/>
                  </a:lnTo>
                  <a:lnTo>
                    <a:pt x="33401" y="1414780"/>
                  </a:lnTo>
                  <a:close/>
                </a:path>
                <a:path w="76200" h="1490979">
                  <a:moveTo>
                    <a:pt x="42926" y="0"/>
                  </a:moveTo>
                  <a:lnTo>
                    <a:pt x="33401" y="0"/>
                  </a:lnTo>
                  <a:lnTo>
                    <a:pt x="33401" y="1427480"/>
                  </a:lnTo>
                  <a:lnTo>
                    <a:pt x="42926" y="1427480"/>
                  </a:lnTo>
                  <a:lnTo>
                    <a:pt x="42926" y="0"/>
                  </a:lnTo>
                  <a:close/>
                </a:path>
                <a:path w="76200" h="1490979">
                  <a:moveTo>
                    <a:pt x="76200" y="1414780"/>
                  </a:moveTo>
                  <a:lnTo>
                    <a:pt x="42926" y="1414780"/>
                  </a:lnTo>
                  <a:lnTo>
                    <a:pt x="42926" y="1427480"/>
                  </a:lnTo>
                  <a:lnTo>
                    <a:pt x="69850" y="1427480"/>
                  </a:lnTo>
                  <a:lnTo>
                    <a:pt x="76200" y="141478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456433" y="3451986"/>
            <a:ext cx="4684395" cy="972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Regresión</a:t>
            </a:r>
            <a:r>
              <a:rPr sz="1500" b="1" spc="2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DB4437"/>
                </a:solidFill>
                <a:latin typeface="Roboto"/>
                <a:cs typeface="Roboto"/>
              </a:rPr>
              <a:t>Lineal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¡Debo</a:t>
            </a:r>
            <a:r>
              <a:rPr sz="1500" b="1" spc="-3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utilizar</a:t>
            </a:r>
            <a:r>
              <a:rPr sz="1500" b="1" spc="-2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una</a:t>
            </a:r>
            <a:r>
              <a:rPr sz="1500" b="1" spc="-3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función</a:t>
            </a:r>
            <a:r>
              <a:rPr sz="1500" b="1" spc="-3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de</a:t>
            </a:r>
            <a:r>
              <a:rPr sz="1500" b="1" spc="-2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activación</a:t>
            </a:r>
            <a:r>
              <a:rPr sz="1500" b="1" spc="-1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no</a:t>
            </a:r>
            <a:r>
              <a:rPr sz="1500" b="1" spc="-3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DB4437"/>
                </a:solidFill>
                <a:latin typeface="Roboto"/>
                <a:cs typeface="Roboto"/>
              </a:rPr>
              <a:t>lineal!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Funciones</a:t>
            </a:r>
            <a:r>
              <a:rPr spc="-1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activación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1000" y="633915"/>
            <a:ext cx="182869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900" algn="l"/>
              </a:tabLst>
            </a:pPr>
            <a:r>
              <a:rPr lang="es-ES" sz="2000" b="1" spc="-10" dirty="0">
                <a:latin typeface="Roboto"/>
                <a:cs typeface="Roboto"/>
              </a:rPr>
              <a:t>E</a:t>
            </a:r>
            <a:r>
              <a:rPr sz="2000" b="1" spc="-10" dirty="0" err="1">
                <a:latin typeface="Roboto"/>
                <a:cs typeface="Roboto"/>
              </a:rPr>
              <a:t>scalón</a:t>
            </a:r>
            <a:endParaRPr sz="2000" dirty="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2125" y="1064323"/>
            <a:ext cx="3366770" cy="1829435"/>
            <a:chOff x="192125" y="1064323"/>
            <a:chExt cx="3366770" cy="182943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125" y="1255014"/>
              <a:ext cx="3324225" cy="1638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3392" y="1064323"/>
              <a:ext cx="312737" cy="1793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69767" y="2720657"/>
              <a:ext cx="88900" cy="80962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430648" y="1161161"/>
            <a:ext cx="2316480" cy="463550"/>
            <a:chOff x="4430648" y="1161161"/>
            <a:chExt cx="2316480" cy="46355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30648" y="1161161"/>
              <a:ext cx="1560449" cy="4635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30848" y="1354581"/>
              <a:ext cx="716280" cy="76200"/>
            </a:xfrm>
            <a:custGeom>
              <a:avLst/>
              <a:gdLst/>
              <a:ahLst/>
              <a:cxnLst/>
              <a:rect l="l" t="t" r="r" b="b"/>
              <a:pathLst>
                <a:path w="716279" h="76200">
                  <a:moveTo>
                    <a:pt x="639699" y="0"/>
                  </a:moveTo>
                  <a:lnTo>
                    <a:pt x="639594" y="31241"/>
                  </a:lnTo>
                  <a:lnTo>
                    <a:pt x="639571" y="38353"/>
                  </a:lnTo>
                  <a:lnTo>
                    <a:pt x="639445" y="76200"/>
                  </a:lnTo>
                  <a:lnTo>
                    <a:pt x="706551" y="42925"/>
                  </a:lnTo>
                  <a:lnTo>
                    <a:pt x="652272" y="42925"/>
                  </a:lnTo>
                  <a:lnTo>
                    <a:pt x="652272" y="33400"/>
                  </a:lnTo>
                  <a:lnTo>
                    <a:pt x="705948" y="33400"/>
                  </a:lnTo>
                  <a:lnTo>
                    <a:pt x="639699" y="0"/>
                  </a:lnTo>
                  <a:close/>
                </a:path>
                <a:path w="716279" h="76200">
                  <a:moveTo>
                    <a:pt x="0" y="31241"/>
                  </a:moveTo>
                  <a:lnTo>
                    <a:pt x="0" y="40766"/>
                  </a:lnTo>
                  <a:lnTo>
                    <a:pt x="652272" y="42925"/>
                  </a:lnTo>
                  <a:lnTo>
                    <a:pt x="639555" y="42925"/>
                  </a:lnTo>
                  <a:lnTo>
                    <a:pt x="639587" y="33400"/>
                  </a:lnTo>
                  <a:lnTo>
                    <a:pt x="652271" y="33400"/>
                  </a:lnTo>
                  <a:lnTo>
                    <a:pt x="0" y="31241"/>
                  </a:lnTo>
                  <a:close/>
                </a:path>
                <a:path w="716279" h="76200">
                  <a:moveTo>
                    <a:pt x="705948" y="33400"/>
                  </a:moveTo>
                  <a:lnTo>
                    <a:pt x="652272" y="33400"/>
                  </a:lnTo>
                  <a:lnTo>
                    <a:pt x="652272" y="42925"/>
                  </a:lnTo>
                  <a:lnTo>
                    <a:pt x="706551" y="42925"/>
                  </a:lnTo>
                  <a:lnTo>
                    <a:pt x="715772" y="38353"/>
                  </a:lnTo>
                  <a:lnTo>
                    <a:pt x="705948" y="334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37965" y="2291207"/>
            <a:ext cx="1030287" cy="28892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161279" y="1064386"/>
            <a:ext cx="3749675" cy="1611630"/>
            <a:chOff x="5161279" y="1064386"/>
            <a:chExt cx="3749675" cy="161163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2975" y="1064386"/>
              <a:ext cx="1633474" cy="6572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61279" y="2288031"/>
              <a:ext cx="3749675" cy="2889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795388" y="2191905"/>
              <a:ext cx="953135" cy="469900"/>
            </a:xfrm>
            <a:custGeom>
              <a:avLst/>
              <a:gdLst/>
              <a:ahLst/>
              <a:cxnLst/>
              <a:rect l="l" t="t" r="r" b="b"/>
              <a:pathLst>
                <a:path w="953134" h="469900">
                  <a:moveTo>
                    <a:pt x="0" y="469506"/>
                  </a:moveTo>
                  <a:lnTo>
                    <a:pt x="953096" y="469506"/>
                  </a:lnTo>
                  <a:lnTo>
                    <a:pt x="953096" y="0"/>
                  </a:lnTo>
                  <a:lnTo>
                    <a:pt x="0" y="0"/>
                  </a:lnTo>
                  <a:lnTo>
                    <a:pt x="0" y="469506"/>
                  </a:lnTo>
                  <a:close/>
                </a:path>
              </a:pathLst>
            </a:custGeom>
            <a:ln w="28575">
              <a:solidFill>
                <a:srgbClr val="DB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72045" y="1545589"/>
              <a:ext cx="303530" cy="646430"/>
            </a:xfrm>
            <a:custGeom>
              <a:avLst/>
              <a:gdLst/>
              <a:ahLst/>
              <a:cxnLst/>
              <a:rect l="l" t="t" r="r" b="b"/>
              <a:pathLst>
                <a:path w="303529" h="646430">
                  <a:moveTo>
                    <a:pt x="259808" y="580771"/>
                  </a:moveTo>
                  <a:lnTo>
                    <a:pt x="233806" y="592582"/>
                  </a:lnTo>
                  <a:lnTo>
                    <a:pt x="299974" y="646303"/>
                  </a:lnTo>
                  <a:lnTo>
                    <a:pt x="301975" y="592582"/>
                  </a:lnTo>
                  <a:lnTo>
                    <a:pt x="301984" y="592328"/>
                  </a:lnTo>
                  <a:lnTo>
                    <a:pt x="265049" y="592328"/>
                  </a:lnTo>
                  <a:lnTo>
                    <a:pt x="259808" y="580771"/>
                  </a:lnTo>
                  <a:close/>
                </a:path>
                <a:path w="303529" h="646430">
                  <a:moveTo>
                    <a:pt x="277091" y="572921"/>
                  </a:moveTo>
                  <a:lnTo>
                    <a:pt x="259808" y="580771"/>
                  </a:lnTo>
                  <a:lnTo>
                    <a:pt x="265049" y="592328"/>
                  </a:lnTo>
                  <a:lnTo>
                    <a:pt x="282321" y="584454"/>
                  </a:lnTo>
                  <a:lnTo>
                    <a:pt x="277091" y="572921"/>
                  </a:lnTo>
                  <a:close/>
                </a:path>
                <a:path w="303529" h="646430">
                  <a:moveTo>
                    <a:pt x="303149" y="561086"/>
                  </a:moveTo>
                  <a:lnTo>
                    <a:pt x="277091" y="572921"/>
                  </a:lnTo>
                  <a:lnTo>
                    <a:pt x="282321" y="584454"/>
                  </a:lnTo>
                  <a:lnTo>
                    <a:pt x="265049" y="592328"/>
                  </a:lnTo>
                  <a:lnTo>
                    <a:pt x="301984" y="592328"/>
                  </a:lnTo>
                  <a:lnTo>
                    <a:pt x="303149" y="561086"/>
                  </a:lnTo>
                  <a:close/>
                </a:path>
                <a:path w="303529" h="646430">
                  <a:moveTo>
                    <a:pt x="17272" y="0"/>
                  </a:moveTo>
                  <a:lnTo>
                    <a:pt x="0" y="7874"/>
                  </a:lnTo>
                  <a:lnTo>
                    <a:pt x="259808" y="580771"/>
                  </a:lnTo>
                  <a:lnTo>
                    <a:pt x="277091" y="572921"/>
                  </a:lnTo>
                  <a:lnTo>
                    <a:pt x="17272" y="0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56888" y="2820416"/>
            <a:ext cx="1184275" cy="288925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056888" y="3276091"/>
            <a:ext cx="2406015" cy="289560"/>
            <a:chOff x="4056888" y="3276091"/>
            <a:chExt cx="2406015" cy="289560"/>
          </a:xfrm>
        </p:grpSpPr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56888" y="3276091"/>
              <a:ext cx="2406015" cy="28955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689980" y="3427729"/>
              <a:ext cx="683895" cy="0"/>
            </a:xfrm>
            <a:custGeom>
              <a:avLst/>
              <a:gdLst/>
              <a:ahLst/>
              <a:cxnLst/>
              <a:rect l="l" t="t" r="r" b="b"/>
              <a:pathLst>
                <a:path w="683895">
                  <a:moveTo>
                    <a:pt x="0" y="0"/>
                  </a:moveTo>
                  <a:lnTo>
                    <a:pt x="683387" y="0"/>
                  </a:lnTo>
                </a:path>
              </a:pathLst>
            </a:custGeom>
            <a:ln w="19050">
              <a:solidFill>
                <a:srgbClr val="DB44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924939" y="4116730"/>
            <a:ext cx="52349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Me</a:t>
            </a:r>
            <a:r>
              <a:rPr sz="1500" b="1" spc="-2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cancela</a:t>
            </a:r>
            <a:r>
              <a:rPr sz="1500" b="1" spc="-1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el</a:t>
            </a:r>
            <a:r>
              <a:rPr sz="1500" b="1" spc="-1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Backpropagation</a:t>
            </a:r>
            <a:r>
              <a:rPr sz="1500" b="1" spc="2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y</a:t>
            </a:r>
            <a:r>
              <a:rPr sz="1500" b="1" spc="-2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el</a:t>
            </a:r>
            <a:r>
              <a:rPr sz="1500" b="1" spc="-1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modelo</a:t>
            </a:r>
            <a:r>
              <a:rPr sz="1500" b="1" spc="-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deja</a:t>
            </a:r>
            <a:r>
              <a:rPr sz="1500" b="1" spc="-2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DB4437"/>
                </a:solidFill>
                <a:latin typeface="Roboto"/>
                <a:cs typeface="Roboto"/>
              </a:rPr>
              <a:t>de</a:t>
            </a:r>
            <a:r>
              <a:rPr sz="1500" b="1" spc="-10" dirty="0">
                <a:solidFill>
                  <a:srgbClr val="DB4437"/>
                </a:solidFill>
                <a:latin typeface="Roboto"/>
                <a:cs typeface="Roboto"/>
              </a:rPr>
              <a:t> aprender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Funciones</a:t>
            </a:r>
            <a:r>
              <a:rPr spc="-1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activación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4321" y="703722"/>
            <a:ext cx="129529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900" algn="l"/>
              </a:tabLst>
            </a:pPr>
            <a:r>
              <a:rPr sz="2000" b="1" spc="-20" dirty="0" err="1">
                <a:latin typeface="Roboto"/>
                <a:cs typeface="Roboto"/>
              </a:rPr>
              <a:t>ReLU</a:t>
            </a:r>
            <a:endParaRPr sz="2000" dirty="0">
              <a:latin typeface="Roboto"/>
              <a:cs typeface="Roboto"/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0619CF94-07CD-1343-C4C1-870ED26B03F6}"/>
              </a:ext>
            </a:extLst>
          </p:cNvPr>
          <p:cNvGrpSpPr/>
          <p:nvPr/>
        </p:nvGrpSpPr>
        <p:grpSpPr>
          <a:xfrm>
            <a:off x="2895600" y="689318"/>
            <a:ext cx="6082004" cy="2644431"/>
            <a:chOff x="1437386" y="758444"/>
            <a:chExt cx="6946900" cy="3233635"/>
          </a:xfrm>
        </p:grpSpPr>
        <p:grpSp>
          <p:nvGrpSpPr>
            <p:cNvPr id="5" name="object 5"/>
            <p:cNvGrpSpPr/>
            <p:nvPr/>
          </p:nvGrpSpPr>
          <p:grpSpPr>
            <a:xfrm>
              <a:off x="1437386" y="758444"/>
              <a:ext cx="6946900" cy="3008630"/>
              <a:chOff x="1437386" y="758444"/>
              <a:chExt cx="6946900" cy="3008630"/>
            </a:xfrm>
          </p:grpSpPr>
          <p:pic>
            <p:nvPicPr>
              <p:cNvPr id="6" name="object 6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37386" y="978662"/>
                <a:ext cx="6858000" cy="2124075"/>
              </a:xfrm>
              <a:prstGeom prst="rect">
                <a:avLst/>
              </a:prstGeom>
            </p:spPr>
          </p:pic>
          <p:pic>
            <p:nvPicPr>
              <p:cNvPr id="7" name="object 7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95386" y="2831401"/>
                <a:ext cx="88898" cy="80962"/>
              </a:xfrm>
              <a:prstGeom prst="rect">
                <a:avLst/>
              </a:prstGeom>
            </p:spPr>
          </p:pic>
          <p:pic>
            <p:nvPicPr>
              <p:cNvPr id="8" name="object 8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406388" y="758444"/>
                <a:ext cx="357187" cy="190500"/>
              </a:xfrm>
              <a:prstGeom prst="rect">
                <a:avLst/>
              </a:prstGeom>
            </p:spPr>
          </p:pic>
          <p:pic>
            <p:nvPicPr>
              <p:cNvPr id="9" name="object 9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877185" y="763968"/>
                <a:ext cx="312737" cy="179387"/>
              </a:xfrm>
              <a:prstGeom prst="rect">
                <a:avLst/>
              </a:prstGeom>
            </p:spPr>
          </p:pic>
          <p:pic>
            <p:nvPicPr>
              <p:cNvPr id="10" name="object 10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591938" y="2831401"/>
                <a:ext cx="88900" cy="80962"/>
              </a:xfrm>
              <a:prstGeom prst="rect">
                <a:avLst/>
              </a:prstGeom>
            </p:spPr>
          </p:pic>
          <p:pic>
            <p:nvPicPr>
              <p:cNvPr id="11" name="object 11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257297" y="3142361"/>
                <a:ext cx="1820799" cy="536575"/>
              </a:xfrm>
              <a:prstGeom prst="rect">
                <a:avLst/>
              </a:prstGeom>
            </p:spPr>
          </p:pic>
          <p:pic>
            <p:nvPicPr>
              <p:cNvPr id="12" name="object 12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812789" y="3230117"/>
                <a:ext cx="1858898" cy="536575"/>
              </a:xfrm>
              <a:prstGeom prst="rect">
                <a:avLst/>
              </a:prstGeom>
            </p:spPr>
          </p:pic>
        </p:grp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57298" y="3766654"/>
              <a:ext cx="1617726" cy="225425"/>
            </a:xfrm>
            <a:prstGeom prst="rect">
              <a:avLst/>
            </a:prstGeom>
          </p:spPr>
        </p:pic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EF8E2CB-B591-2930-5E19-B80B85B76D41}"/>
              </a:ext>
            </a:extLst>
          </p:cNvPr>
          <p:cNvSpPr txBox="1"/>
          <p:nvPr/>
        </p:nvSpPr>
        <p:spPr>
          <a:xfrm>
            <a:off x="54578" y="1342642"/>
            <a:ext cx="29175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Paso</a:t>
            </a:r>
            <a:r>
              <a:rPr lang="es-ES" sz="1400" b="1" spc="-15" dirty="0">
                <a:solidFill>
                  <a:srgbClr val="0E9D57"/>
                </a:solidFill>
                <a:latin typeface="Roboto"/>
                <a:cs typeface="Roboto"/>
              </a:rPr>
              <a:t> </a:t>
            </a: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Forward</a:t>
            </a:r>
            <a:r>
              <a:rPr lang="es-ES" sz="1400" b="1" spc="-35" dirty="0">
                <a:solidFill>
                  <a:srgbClr val="0E9D57"/>
                </a:solidFill>
                <a:latin typeface="Roboto"/>
                <a:cs typeface="Roboto"/>
              </a:rPr>
              <a:t> </a:t>
            </a: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y</a:t>
            </a:r>
            <a:r>
              <a:rPr lang="es-ES" sz="1400" b="1" spc="-20" dirty="0">
                <a:solidFill>
                  <a:srgbClr val="0E9D57"/>
                </a:solidFill>
                <a:latin typeface="Roboto"/>
                <a:cs typeface="Roboto"/>
              </a:rPr>
              <a:t> </a:t>
            </a:r>
            <a:r>
              <a:rPr lang="es-ES" sz="1400" b="1" dirty="0" err="1">
                <a:solidFill>
                  <a:srgbClr val="0E9D57"/>
                </a:solidFill>
                <a:latin typeface="Roboto"/>
                <a:cs typeface="Roboto"/>
              </a:rPr>
              <a:t>Backward</a:t>
            </a:r>
            <a:r>
              <a:rPr lang="es-ES" sz="1400" b="1" spc="-10" dirty="0">
                <a:solidFill>
                  <a:srgbClr val="0E9D57"/>
                </a:solidFill>
                <a:latin typeface="Roboto"/>
                <a:cs typeface="Roboto"/>
              </a:rPr>
              <a:t> </a:t>
            </a: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extremadamente</a:t>
            </a:r>
            <a:r>
              <a:rPr lang="es-ES" sz="1400" b="1" spc="-5" dirty="0">
                <a:solidFill>
                  <a:srgbClr val="0E9D57"/>
                </a:solidFill>
                <a:latin typeface="Roboto"/>
                <a:cs typeface="Roboto"/>
              </a:rPr>
              <a:t> </a:t>
            </a: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simples</a:t>
            </a:r>
            <a:r>
              <a:rPr lang="es-ES" sz="1400" b="1" spc="20" dirty="0">
                <a:solidFill>
                  <a:srgbClr val="0E9D57"/>
                </a:solidFill>
                <a:latin typeface="Roboto"/>
                <a:cs typeface="Roboto"/>
              </a:rPr>
              <a:t> </a:t>
            </a: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de</a:t>
            </a:r>
            <a:r>
              <a:rPr lang="es-ES" sz="1400" b="1" spc="-5" dirty="0">
                <a:solidFill>
                  <a:srgbClr val="0E9D57"/>
                </a:solidFill>
                <a:latin typeface="Roboto"/>
                <a:cs typeface="Roboto"/>
              </a:rPr>
              <a:t> </a:t>
            </a: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calcular</a:t>
            </a:r>
            <a:r>
              <a:rPr lang="es-ES" sz="1400" b="1" spc="-5" dirty="0">
                <a:solidFill>
                  <a:srgbClr val="0E9D57"/>
                </a:solidFill>
                <a:latin typeface="Roboto"/>
                <a:cs typeface="Roboto"/>
              </a:rPr>
              <a:t> </a:t>
            </a:r>
            <a:r>
              <a:rPr lang="es-ES" sz="1400" b="1" spc="-10" dirty="0">
                <a:solidFill>
                  <a:srgbClr val="0E9D57"/>
                </a:solidFill>
                <a:latin typeface="Roboto"/>
                <a:cs typeface="Roboto"/>
              </a:rPr>
              <a:t>(entrenamiento</a:t>
            </a:r>
            <a:r>
              <a:rPr lang="es-ES" sz="1400" b="1" spc="-20" dirty="0">
                <a:solidFill>
                  <a:srgbClr val="0E9D57"/>
                </a:solidFill>
                <a:latin typeface="Roboto"/>
                <a:cs typeface="Roboto"/>
              </a:rPr>
              <a:t> </a:t>
            </a: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muy</a:t>
            </a:r>
            <a:r>
              <a:rPr lang="es-ES" sz="1400" b="1" spc="-15" dirty="0">
                <a:solidFill>
                  <a:srgbClr val="0E9D57"/>
                </a:solidFill>
                <a:latin typeface="Roboto"/>
                <a:cs typeface="Roboto"/>
              </a:rPr>
              <a:t> </a:t>
            </a:r>
            <a:r>
              <a:rPr lang="es-ES" sz="1400" b="1" spc="-10" dirty="0">
                <a:solidFill>
                  <a:srgbClr val="0E9D57"/>
                </a:solidFill>
                <a:latin typeface="Roboto"/>
                <a:cs typeface="Roboto"/>
              </a:rPr>
              <a:t>rápido)</a:t>
            </a:r>
          </a:p>
          <a:p>
            <a:endParaRPr lang="es-ES" sz="1400" b="1" spc="-10" dirty="0">
              <a:solidFill>
                <a:srgbClr val="0E9D57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DB4437"/>
                </a:solidFill>
                <a:latin typeface="Roboto"/>
                <a:cs typeface="Roboto"/>
              </a:rPr>
              <a:t>Los gradientes negativos se anulan (problema de las neuronas muertas)</a:t>
            </a:r>
            <a:endParaRPr lang="es-PE" sz="14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360DCB0-02A2-4F9A-5616-7E56283756A5}"/>
              </a:ext>
            </a:extLst>
          </p:cNvPr>
          <p:cNvSpPr txBox="1"/>
          <p:nvPr/>
        </p:nvSpPr>
        <p:spPr>
          <a:xfrm>
            <a:off x="1161971" y="3739356"/>
            <a:ext cx="71438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¿Cuándo usarla?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Para capas ocultas de redes profundas en la mayoría de tareas (buen punto de partida).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Default seguro cuando no hay razón específica para otra.</a:t>
            </a:r>
            <a:endParaRPr lang="es-PE" sz="1400" b="1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Funciones</a:t>
            </a:r>
            <a:r>
              <a:rPr spc="-1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activación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4901" y="691642"/>
            <a:ext cx="142684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900" algn="l"/>
              </a:tabLst>
            </a:pPr>
            <a:r>
              <a:rPr sz="2000" b="1" dirty="0">
                <a:latin typeface="Roboto"/>
                <a:cs typeface="Roboto"/>
              </a:rPr>
              <a:t>Leaky</a:t>
            </a:r>
            <a:r>
              <a:rPr sz="2000" b="1" spc="-70" dirty="0">
                <a:latin typeface="Roboto"/>
                <a:cs typeface="Roboto"/>
              </a:rPr>
              <a:t> </a:t>
            </a:r>
            <a:r>
              <a:rPr sz="2000" b="1" spc="-20" dirty="0">
                <a:latin typeface="Roboto"/>
                <a:cs typeface="Roboto"/>
              </a:rPr>
              <a:t>ReLU</a:t>
            </a:r>
            <a:endParaRPr sz="2000" dirty="0">
              <a:latin typeface="Roboto"/>
              <a:cs typeface="Roboto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6E096A1-7F83-03D5-9AAF-4530F3DB155E}"/>
              </a:ext>
            </a:extLst>
          </p:cNvPr>
          <p:cNvGrpSpPr/>
          <p:nvPr/>
        </p:nvGrpSpPr>
        <p:grpSpPr>
          <a:xfrm>
            <a:off x="3276600" y="590550"/>
            <a:ext cx="5638800" cy="3352800"/>
            <a:chOff x="1500124" y="1053020"/>
            <a:chExt cx="6144260" cy="3896448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7560" y="3708387"/>
              <a:ext cx="1874900" cy="536575"/>
            </a:xfrm>
            <a:prstGeom prst="rect">
              <a:avLst/>
            </a:prstGeom>
          </p:spPr>
        </p:pic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099BF13A-33F9-AD9F-3BAF-FC0BBB93E662}"/>
                </a:ext>
              </a:extLst>
            </p:cNvPr>
            <p:cNvGrpSpPr/>
            <p:nvPr/>
          </p:nvGrpSpPr>
          <p:grpSpPr>
            <a:xfrm>
              <a:off x="1500124" y="1053020"/>
              <a:ext cx="6144260" cy="3896448"/>
              <a:chOff x="1500124" y="1053020"/>
              <a:chExt cx="6144260" cy="3896448"/>
            </a:xfrm>
          </p:grpSpPr>
          <p:grpSp>
            <p:nvGrpSpPr>
              <p:cNvPr id="5" name="object 5"/>
              <p:cNvGrpSpPr/>
              <p:nvPr/>
            </p:nvGrpSpPr>
            <p:grpSpPr>
              <a:xfrm>
                <a:off x="1500124" y="1053020"/>
                <a:ext cx="6144260" cy="2536825"/>
                <a:chOff x="1500124" y="1053020"/>
                <a:chExt cx="6144260" cy="2536825"/>
              </a:xfrm>
            </p:grpSpPr>
            <p:pic>
              <p:nvPicPr>
                <p:cNvPr id="6" name="object 6"/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1500124" y="1232408"/>
                  <a:ext cx="6143879" cy="2357119"/>
                </a:xfrm>
                <a:prstGeom prst="rect">
                  <a:avLst/>
                </a:prstGeom>
              </p:spPr>
            </p:pic>
            <p:pic>
              <p:nvPicPr>
                <p:cNvPr id="7" name="object 7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7418196" y="3190811"/>
                  <a:ext cx="88898" cy="80962"/>
                </a:xfrm>
                <a:prstGeom prst="rect">
                  <a:avLst/>
                </a:prstGeom>
              </p:spPr>
            </p:pic>
            <p:pic>
              <p:nvPicPr>
                <p:cNvPr id="8" name="object 8"/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6021324" y="1117854"/>
                  <a:ext cx="357187" cy="190500"/>
                </a:xfrm>
                <a:prstGeom prst="rect">
                  <a:avLst/>
                </a:prstGeom>
              </p:spPr>
            </p:pic>
            <p:pic>
              <p:nvPicPr>
                <p:cNvPr id="9" name="object 9"/>
                <p:cNvPicPr/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2905760" y="1053020"/>
                  <a:ext cx="312737" cy="179387"/>
                </a:xfrm>
                <a:prstGeom prst="rect">
                  <a:avLst/>
                </a:prstGeom>
              </p:spPr>
            </p:pic>
            <p:pic>
              <p:nvPicPr>
                <p:cNvPr id="10" name="object 10"/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206747" y="3190811"/>
                  <a:ext cx="88898" cy="80962"/>
                </a:xfrm>
                <a:prstGeom prst="rect">
                  <a:avLst/>
                </a:prstGeom>
              </p:spPr>
            </p:pic>
          </p:grpSp>
          <p:pic>
            <p:nvPicPr>
              <p:cNvPr id="11" name="object 11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272029" y="3707752"/>
                <a:ext cx="2108835" cy="537210"/>
              </a:xfrm>
              <a:prstGeom prst="rect">
                <a:avLst/>
              </a:prstGeom>
            </p:spPr>
          </p:pic>
          <p:pic>
            <p:nvPicPr>
              <p:cNvPr id="12" name="object 12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2271395" y="4364139"/>
                <a:ext cx="1922526" cy="225425"/>
              </a:xfrm>
              <a:prstGeom prst="rect">
                <a:avLst/>
              </a:prstGeom>
            </p:spPr>
          </p:pic>
          <p:pic>
            <p:nvPicPr>
              <p:cNvPr id="14" name="object 14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2287016" y="4746269"/>
                <a:ext cx="2009775" cy="203199"/>
              </a:xfrm>
              <a:prstGeom prst="rect">
                <a:avLst/>
              </a:prstGeom>
            </p:spPr>
          </p:pic>
        </p:grp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33E3EA5-5FF2-9ACD-1028-2324858E185D}"/>
              </a:ext>
            </a:extLst>
          </p:cNvPr>
          <p:cNvSpPr txBox="1"/>
          <p:nvPr/>
        </p:nvSpPr>
        <p:spPr>
          <a:xfrm>
            <a:off x="54577" y="1342642"/>
            <a:ext cx="30949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Permite gradientes pequeños en la zona negativa (evita neuronas muertas).</a:t>
            </a:r>
          </a:p>
          <a:p>
            <a:endParaRPr lang="es-ES" sz="1400" b="1" spc="-10" dirty="0">
              <a:solidFill>
                <a:srgbClr val="0E9D57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DB4437"/>
                </a:solidFill>
                <a:latin typeface="Roboto"/>
                <a:cs typeface="Roboto"/>
              </a:rPr>
              <a:t>Introduce un </a:t>
            </a:r>
            <a:r>
              <a:rPr lang="es-ES" sz="1400" b="1" dirty="0" err="1">
                <a:solidFill>
                  <a:srgbClr val="DB4437"/>
                </a:solidFill>
                <a:latin typeface="Roboto"/>
                <a:cs typeface="Roboto"/>
              </a:rPr>
              <a:t>hiperparámetro</a:t>
            </a:r>
            <a:r>
              <a:rPr lang="es-ES" sz="1400" b="1" dirty="0">
                <a:solidFill>
                  <a:srgbClr val="DB4437"/>
                </a:solidFill>
                <a:latin typeface="Roboto"/>
                <a:cs typeface="Roboto"/>
              </a:rPr>
              <a:t> (𝛼</a:t>
            </a:r>
            <a:r>
              <a:rPr lang="el-GR" sz="1400" b="1" dirty="0">
                <a:solidFill>
                  <a:srgbClr val="DB4437"/>
                </a:solidFill>
                <a:latin typeface="Roboto"/>
                <a:cs typeface="Roboto"/>
              </a:rPr>
              <a:t>)</a:t>
            </a:r>
            <a:r>
              <a:rPr lang="es-ES" sz="1400" b="1" dirty="0">
                <a:solidFill>
                  <a:srgbClr val="DB4437"/>
                </a:solidFill>
                <a:latin typeface="Roboto"/>
                <a:cs typeface="Roboto"/>
              </a:rPr>
              <a:t> más que se debe configurar.</a:t>
            </a:r>
            <a:endParaRPr lang="es-PE" sz="14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83608E3-49F4-D38B-93BE-D092F27BEDA3}"/>
              </a:ext>
            </a:extLst>
          </p:cNvPr>
          <p:cNvSpPr txBox="1"/>
          <p:nvPr/>
        </p:nvSpPr>
        <p:spPr>
          <a:xfrm>
            <a:off x="1105337" y="3877890"/>
            <a:ext cx="71438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¿Cuándo usarla?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 redes donde observas que muchas neuronas quedan inactivas con </a:t>
            </a:r>
            <a:r>
              <a:rPr lang="es-ES" sz="1400" b="1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ReLU</a:t>
            </a: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 tareas donde los datos pueden tener un rango más amplio o valores negativos significativos (por ejemplo, series temporales o audio).</a:t>
            </a:r>
            <a:endParaRPr lang="es-PE" sz="1400" b="1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Funciones</a:t>
            </a:r>
            <a:r>
              <a:rPr spc="-1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activación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4800" y="646309"/>
            <a:ext cx="110807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900" algn="l"/>
              </a:tabLst>
            </a:pPr>
            <a:r>
              <a:rPr sz="2000" b="1" spc="-10" dirty="0">
                <a:latin typeface="Roboto"/>
                <a:cs typeface="Roboto"/>
              </a:rPr>
              <a:t>Sigmoid</a:t>
            </a:r>
            <a:endParaRPr sz="2000" dirty="0">
              <a:latin typeface="Roboto"/>
              <a:cs typeface="Roboto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B69626F5-885E-EC9C-17EB-0B0E182F2E70}"/>
              </a:ext>
            </a:extLst>
          </p:cNvPr>
          <p:cNvGrpSpPr/>
          <p:nvPr/>
        </p:nvGrpSpPr>
        <p:grpSpPr>
          <a:xfrm>
            <a:off x="3429000" y="630448"/>
            <a:ext cx="5486399" cy="2855702"/>
            <a:chOff x="3877761" y="630449"/>
            <a:chExt cx="4853863" cy="2512406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0506" y="2729756"/>
              <a:ext cx="2195576" cy="4130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6677" y="2860496"/>
              <a:ext cx="1997686" cy="196972"/>
            </a:xfrm>
            <a:prstGeom prst="rect">
              <a:avLst/>
            </a:prstGeom>
          </p:spPr>
        </p:pic>
        <p:grpSp>
          <p:nvGrpSpPr>
            <p:cNvPr id="7" name="object 7"/>
            <p:cNvGrpSpPr/>
            <p:nvPr/>
          </p:nvGrpSpPr>
          <p:grpSpPr>
            <a:xfrm>
              <a:off x="3877761" y="630449"/>
              <a:ext cx="4853863" cy="2052193"/>
              <a:chOff x="198043" y="1052957"/>
              <a:chExt cx="6068695" cy="2487930"/>
            </a:xfrm>
          </p:grpSpPr>
          <p:pic>
            <p:nvPicPr>
              <p:cNvPr id="8" name="object 8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8043" y="1193292"/>
                <a:ext cx="5922137" cy="2266314"/>
              </a:xfrm>
              <a:prstGeom prst="rect">
                <a:avLst/>
              </a:prstGeom>
            </p:spPr>
          </p:pic>
          <p:pic>
            <p:nvPicPr>
              <p:cNvPr id="9" name="object 9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99326" y="1058608"/>
                <a:ext cx="322262" cy="179387"/>
              </a:xfrm>
              <a:prstGeom prst="rect">
                <a:avLst/>
              </a:prstGeom>
            </p:spPr>
          </p:pic>
          <p:pic>
            <p:nvPicPr>
              <p:cNvPr id="10" name="object 10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120129" y="3459543"/>
                <a:ext cx="88900" cy="80962"/>
              </a:xfrm>
              <a:prstGeom prst="rect">
                <a:avLst/>
              </a:prstGeom>
            </p:spPr>
          </p:pic>
          <p:pic>
            <p:nvPicPr>
              <p:cNvPr id="11" name="object 11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380612" y="1052957"/>
                <a:ext cx="366712" cy="190500"/>
              </a:xfrm>
              <a:prstGeom prst="rect">
                <a:avLst/>
              </a:prstGeom>
            </p:spPr>
          </p:pic>
          <p:pic>
            <p:nvPicPr>
              <p:cNvPr id="12" name="object 12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3060572" y="3459543"/>
                <a:ext cx="88900" cy="80962"/>
              </a:xfrm>
              <a:prstGeom prst="rect">
                <a:avLst/>
              </a:prstGeom>
            </p:spPr>
          </p:pic>
          <p:sp>
            <p:nvSpPr>
              <p:cNvPr id="13" name="object 13"/>
              <p:cNvSpPr/>
              <p:nvPr/>
            </p:nvSpPr>
            <p:spPr>
              <a:xfrm>
                <a:off x="3334512" y="3026664"/>
                <a:ext cx="2922905" cy="313690"/>
              </a:xfrm>
              <a:custGeom>
                <a:avLst/>
                <a:gdLst/>
                <a:ahLst/>
                <a:cxnLst/>
                <a:rect l="l" t="t" r="r" b="b"/>
                <a:pathLst>
                  <a:path w="2922904" h="313689">
                    <a:moveTo>
                      <a:pt x="0" y="156591"/>
                    </a:moveTo>
                    <a:lnTo>
                      <a:pt x="22292" y="95636"/>
                    </a:lnTo>
                    <a:lnTo>
                      <a:pt x="83089" y="45862"/>
                    </a:lnTo>
                    <a:lnTo>
                      <a:pt x="125077" y="26742"/>
                    </a:lnTo>
                    <a:lnTo>
                      <a:pt x="173271" y="12305"/>
                    </a:lnTo>
                    <a:lnTo>
                      <a:pt x="226531" y="3181"/>
                    </a:lnTo>
                    <a:lnTo>
                      <a:pt x="283717" y="0"/>
                    </a:lnTo>
                    <a:lnTo>
                      <a:pt x="340862" y="3181"/>
                    </a:lnTo>
                    <a:lnTo>
                      <a:pt x="394090" y="12305"/>
                    </a:lnTo>
                    <a:lnTo>
                      <a:pt x="442262" y="26742"/>
                    </a:lnTo>
                    <a:lnTo>
                      <a:pt x="484235" y="45862"/>
                    </a:lnTo>
                    <a:lnTo>
                      <a:pt x="518867" y="69037"/>
                    </a:lnTo>
                    <a:lnTo>
                      <a:pt x="561546" y="125031"/>
                    </a:lnTo>
                    <a:lnTo>
                      <a:pt x="567309" y="156591"/>
                    </a:lnTo>
                    <a:lnTo>
                      <a:pt x="561546" y="188150"/>
                    </a:lnTo>
                    <a:lnTo>
                      <a:pt x="518867" y="244144"/>
                    </a:lnTo>
                    <a:lnTo>
                      <a:pt x="484235" y="267319"/>
                    </a:lnTo>
                    <a:lnTo>
                      <a:pt x="442262" y="286439"/>
                    </a:lnTo>
                    <a:lnTo>
                      <a:pt x="394090" y="300876"/>
                    </a:lnTo>
                    <a:lnTo>
                      <a:pt x="340862" y="310000"/>
                    </a:lnTo>
                    <a:lnTo>
                      <a:pt x="283717" y="313181"/>
                    </a:lnTo>
                    <a:lnTo>
                      <a:pt x="226531" y="310000"/>
                    </a:lnTo>
                    <a:lnTo>
                      <a:pt x="173271" y="300876"/>
                    </a:lnTo>
                    <a:lnTo>
                      <a:pt x="125077" y="286439"/>
                    </a:lnTo>
                    <a:lnTo>
                      <a:pt x="83089" y="267319"/>
                    </a:lnTo>
                    <a:lnTo>
                      <a:pt x="48448" y="244144"/>
                    </a:lnTo>
                    <a:lnTo>
                      <a:pt x="5763" y="188150"/>
                    </a:lnTo>
                    <a:lnTo>
                      <a:pt x="0" y="156591"/>
                    </a:lnTo>
                    <a:close/>
                  </a:path>
                  <a:path w="2922904" h="313689">
                    <a:moveTo>
                      <a:pt x="2355215" y="156591"/>
                    </a:moveTo>
                    <a:lnTo>
                      <a:pt x="2377505" y="95636"/>
                    </a:lnTo>
                    <a:lnTo>
                      <a:pt x="2438288" y="45862"/>
                    </a:lnTo>
                    <a:lnTo>
                      <a:pt x="2480261" y="26742"/>
                    </a:lnTo>
                    <a:lnTo>
                      <a:pt x="2528433" y="12305"/>
                    </a:lnTo>
                    <a:lnTo>
                      <a:pt x="2581661" y="3181"/>
                    </a:lnTo>
                    <a:lnTo>
                      <a:pt x="2638805" y="0"/>
                    </a:lnTo>
                    <a:lnTo>
                      <a:pt x="2695992" y="3181"/>
                    </a:lnTo>
                    <a:lnTo>
                      <a:pt x="2749252" y="12305"/>
                    </a:lnTo>
                    <a:lnTo>
                      <a:pt x="2797446" y="26742"/>
                    </a:lnTo>
                    <a:lnTo>
                      <a:pt x="2839434" y="45862"/>
                    </a:lnTo>
                    <a:lnTo>
                      <a:pt x="2874075" y="69037"/>
                    </a:lnTo>
                    <a:lnTo>
                      <a:pt x="2916760" y="125031"/>
                    </a:lnTo>
                    <a:lnTo>
                      <a:pt x="2922524" y="156591"/>
                    </a:lnTo>
                    <a:lnTo>
                      <a:pt x="2916760" y="188150"/>
                    </a:lnTo>
                    <a:lnTo>
                      <a:pt x="2874075" y="244144"/>
                    </a:lnTo>
                    <a:lnTo>
                      <a:pt x="2839434" y="267319"/>
                    </a:lnTo>
                    <a:lnTo>
                      <a:pt x="2797446" y="286439"/>
                    </a:lnTo>
                    <a:lnTo>
                      <a:pt x="2749252" y="300876"/>
                    </a:lnTo>
                    <a:lnTo>
                      <a:pt x="2695992" y="310000"/>
                    </a:lnTo>
                    <a:lnTo>
                      <a:pt x="2638805" y="313181"/>
                    </a:lnTo>
                    <a:lnTo>
                      <a:pt x="2581661" y="310000"/>
                    </a:lnTo>
                    <a:lnTo>
                      <a:pt x="2528433" y="300876"/>
                    </a:lnTo>
                    <a:lnTo>
                      <a:pt x="2480261" y="286439"/>
                    </a:lnTo>
                    <a:lnTo>
                      <a:pt x="2438288" y="267319"/>
                    </a:lnTo>
                    <a:lnTo>
                      <a:pt x="2403656" y="244144"/>
                    </a:lnTo>
                    <a:lnTo>
                      <a:pt x="2360977" y="188150"/>
                    </a:lnTo>
                    <a:lnTo>
                      <a:pt x="2355215" y="156591"/>
                    </a:lnTo>
                    <a:close/>
                  </a:path>
                </a:pathLst>
              </a:custGeom>
              <a:ln w="19050">
                <a:solidFill>
                  <a:srgbClr val="DB4437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16E7CDD-03EE-B8FC-AB2E-78FEC6871E20}"/>
              </a:ext>
            </a:extLst>
          </p:cNvPr>
          <p:cNvSpPr txBox="1"/>
          <p:nvPr/>
        </p:nvSpPr>
        <p:spPr>
          <a:xfrm>
            <a:off x="54577" y="1342642"/>
            <a:ext cx="33744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Interpretable como probabilidad.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Normaliza la salida entre 0 y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Gradiente suave y efecto gradual</a:t>
            </a:r>
          </a:p>
          <a:p>
            <a:endParaRPr lang="es-ES" sz="1400" b="1" spc="-10" dirty="0">
              <a:solidFill>
                <a:srgbClr val="0E9D57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DB4437"/>
                </a:solidFill>
                <a:latin typeface="Roboto"/>
                <a:cs typeface="Roboto"/>
              </a:rPr>
              <a:t>Saturación: gradientes muy pequeños en extremos (</a:t>
            </a:r>
            <a:r>
              <a:rPr lang="es-ES" sz="1400" b="1" dirty="0" err="1">
                <a:solidFill>
                  <a:srgbClr val="DB4437"/>
                </a:solidFill>
                <a:latin typeface="Roboto"/>
                <a:cs typeface="Roboto"/>
              </a:rPr>
              <a:t>vanishing</a:t>
            </a:r>
            <a:r>
              <a:rPr lang="es-ES" sz="1400" b="1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ES" sz="1400" b="1" dirty="0" err="1">
                <a:solidFill>
                  <a:srgbClr val="DB4437"/>
                </a:solidFill>
                <a:latin typeface="Roboto"/>
                <a:cs typeface="Roboto"/>
              </a:rPr>
              <a:t>gradient</a:t>
            </a:r>
            <a:r>
              <a:rPr lang="es-ES" sz="1400" b="1" dirty="0">
                <a:solidFill>
                  <a:srgbClr val="DB4437"/>
                </a:solidFill>
                <a:latin typeface="Roboto"/>
                <a:cs typeface="Roboto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DB4437"/>
                </a:solidFill>
                <a:latin typeface="Roboto"/>
                <a:cs typeface="Roboto"/>
              </a:rPr>
              <a:t>Lento entrenamiento cuando se usa en capas ocultas.</a:t>
            </a:r>
            <a:endParaRPr lang="es-PE" sz="14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A43C4B8-79BD-3355-65B0-5B3CE579EAC4}"/>
              </a:ext>
            </a:extLst>
          </p:cNvPr>
          <p:cNvSpPr txBox="1"/>
          <p:nvPr/>
        </p:nvSpPr>
        <p:spPr>
          <a:xfrm>
            <a:off x="1105337" y="3877890"/>
            <a:ext cx="71438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¿Cuándo usarla?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 la capa de salida para modelos de clasificación binaria (solo dos clases).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 redes pequeñas donde la estabilidad del gradiente no sea crítica.</a:t>
            </a:r>
            <a:endParaRPr lang="es-PE" sz="1400" b="1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Funciones</a:t>
            </a:r>
            <a:r>
              <a:rPr spc="-1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activación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3474" y="655740"/>
            <a:ext cx="817244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900" algn="l"/>
              </a:tabLst>
            </a:pPr>
            <a:r>
              <a:rPr sz="2000" b="1" spc="-20" dirty="0">
                <a:latin typeface="Roboto"/>
                <a:cs typeface="Roboto"/>
              </a:rPr>
              <a:t>Tanh</a:t>
            </a:r>
            <a:endParaRPr sz="2000" dirty="0">
              <a:latin typeface="Roboto"/>
              <a:cs typeface="Roboto"/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14D60ED-8EE9-C8EF-D2E2-F13CA3497BFA}"/>
              </a:ext>
            </a:extLst>
          </p:cNvPr>
          <p:cNvGrpSpPr/>
          <p:nvPr/>
        </p:nvGrpSpPr>
        <p:grpSpPr>
          <a:xfrm>
            <a:off x="3886200" y="590550"/>
            <a:ext cx="5122805" cy="3170491"/>
            <a:chOff x="931674" y="895350"/>
            <a:chExt cx="5247513" cy="3467109"/>
          </a:xfrm>
        </p:grpSpPr>
        <p:grpSp>
          <p:nvGrpSpPr>
            <p:cNvPr id="5" name="object 5"/>
            <p:cNvGrpSpPr/>
            <p:nvPr/>
          </p:nvGrpSpPr>
          <p:grpSpPr>
            <a:xfrm>
              <a:off x="931674" y="895350"/>
              <a:ext cx="5247513" cy="3145751"/>
              <a:chOff x="363474" y="1047496"/>
              <a:chExt cx="5247513" cy="3145751"/>
            </a:xfrm>
          </p:grpSpPr>
          <p:pic>
            <p:nvPicPr>
              <p:cNvPr id="6" name="object 6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63474" y="1223860"/>
                <a:ext cx="5247513" cy="2969387"/>
              </a:xfrm>
              <a:prstGeom prst="rect">
                <a:avLst/>
              </a:prstGeom>
            </p:spPr>
          </p:pic>
          <p:pic>
            <p:nvPicPr>
              <p:cNvPr id="7" name="object 7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867278" y="4112285"/>
                <a:ext cx="88900" cy="80962"/>
              </a:xfrm>
              <a:prstGeom prst="rect">
                <a:avLst/>
              </a:prstGeom>
            </p:spPr>
          </p:pic>
          <p:pic>
            <p:nvPicPr>
              <p:cNvPr id="8" name="object 8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147822" y="1047496"/>
                <a:ext cx="357187" cy="190500"/>
              </a:xfrm>
              <a:prstGeom prst="rect">
                <a:avLst/>
              </a:prstGeom>
            </p:spPr>
          </p:pic>
          <p:pic>
            <p:nvPicPr>
              <p:cNvPr id="9" name="object 9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12914" y="1053020"/>
                <a:ext cx="312737" cy="179387"/>
              </a:xfrm>
              <a:prstGeom prst="rect">
                <a:avLst/>
              </a:prstGeom>
            </p:spPr>
          </p:pic>
          <p:pic>
            <p:nvPicPr>
              <p:cNvPr id="10" name="object 10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470270" y="4112285"/>
                <a:ext cx="88900" cy="80962"/>
              </a:xfrm>
              <a:prstGeom prst="rect">
                <a:avLst/>
              </a:prstGeom>
            </p:spPr>
          </p:pic>
        </p:grpSp>
        <p:pic>
          <p:nvPicPr>
            <p:cNvPr id="11" name="object 11"/>
            <p:cNvPicPr/>
            <p:nvPr/>
          </p:nvPicPr>
          <p:blipFill>
            <a:blip r:embed="rId7" cstate="print"/>
            <a:srcRect l="23805" t="-33078"/>
            <a:stretch>
              <a:fillRect/>
            </a:stretch>
          </p:blipFill>
          <p:spPr>
            <a:xfrm>
              <a:off x="1081114" y="4061422"/>
              <a:ext cx="2184528" cy="30103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rcRect l="32585"/>
            <a:stretch>
              <a:fillRect/>
            </a:stretch>
          </p:blipFill>
          <p:spPr>
            <a:xfrm>
              <a:off x="4108521" y="4086977"/>
              <a:ext cx="1471771" cy="268604"/>
            </a:xfrm>
            <a:prstGeom prst="rect">
              <a:avLst/>
            </a:prstGeom>
          </p:spPr>
        </p:pic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97E837A-FC8F-E17E-C40A-C356491DD95C}"/>
              </a:ext>
            </a:extLst>
          </p:cNvPr>
          <p:cNvSpPr txBox="1"/>
          <p:nvPr/>
        </p:nvSpPr>
        <p:spPr>
          <a:xfrm>
            <a:off x="54577" y="1342642"/>
            <a:ext cx="38316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Mantiene una salida acotada entre (-1, 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spc="-10" dirty="0">
                <a:solidFill>
                  <a:srgbClr val="0E9D57"/>
                </a:solidFill>
                <a:latin typeface="Roboto"/>
                <a:cs typeface="Roboto"/>
              </a:rPr>
              <a:t>Centrada en cero (más rápida que la sigmoide para capas ocultas).</a:t>
            </a:r>
          </a:p>
          <a:p>
            <a:endParaRPr lang="es-ES" sz="1400" b="1" spc="-10" dirty="0">
              <a:solidFill>
                <a:srgbClr val="0E9D57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DB4437"/>
                </a:solidFill>
                <a:latin typeface="Roboto"/>
                <a:cs typeface="Roboto"/>
              </a:rPr>
              <a:t>Saturación: gradientes muy pequeños en extremos (</a:t>
            </a:r>
            <a:r>
              <a:rPr lang="es-ES" sz="1400" b="1" dirty="0" err="1">
                <a:solidFill>
                  <a:srgbClr val="DB4437"/>
                </a:solidFill>
                <a:latin typeface="Roboto"/>
                <a:cs typeface="Roboto"/>
              </a:rPr>
              <a:t>vanishing</a:t>
            </a:r>
            <a:r>
              <a:rPr lang="es-ES" sz="1400" b="1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lang="es-ES" sz="1400" b="1" dirty="0" err="1">
                <a:solidFill>
                  <a:srgbClr val="DB4437"/>
                </a:solidFill>
                <a:latin typeface="Roboto"/>
                <a:cs typeface="Roboto"/>
              </a:rPr>
              <a:t>gradient</a:t>
            </a:r>
            <a:r>
              <a:rPr lang="es-ES" sz="1400" b="1" dirty="0">
                <a:solidFill>
                  <a:srgbClr val="DB4437"/>
                </a:solidFill>
                <a:latin typeface="Roboto"/>
                <a:cs typeface="Roboto"/>
              </a:rPr>
              <a:t>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1DB322A-7C5E-277B-CB79-CD2906505877}"/>
              </a:ext>
            </a:extLst>
          </p:cNvPr>
          <p:cNvSpPr txBox="1"/>
          <p:nvPr/>
        </p:nvSpPr>
        <p:spPr>
          <a:xfrm>
            <a:off x="914400" y="3806898"/>
            <a:ext cx="714382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¿Cuándo usarla?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 capas ocultas de redes más pequeñas o </a:t>
            </a:r>
            <a:r>
              <a:rPr lang="es-ES" sz="1400" b="1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RNNs</a:t>
            </a: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cuando los datos tienen valores tanto positivos como negativos.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 la capa de salida de modelos de regresión, cuando se desea valores entre -1 y 1 (rango simétrico).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CD164-B438-1CFE-A4B8-D4D4A67E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61F44D3-EC16-8DCA-40EC-8651A40E5E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Funciones</a:t>
            </a:r>
            <a:r>
              <a:rPr spc="-1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activación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9680FF8-2179-4DE2-DB56-B0DD4A4D6BA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9877D660-3512-9435-F56A-844B0D9E391B}"/>
              </a:ext>
            </a:extLst>
          </p:cNvPr>
          <p:cNvSpPr txBox="1"/>
          <p:nvPr/>
        </p:nvSpPr>
        <p:spPr>
          <a:xfrm>
            <a:off x="304901" y="691642"/>
            <a:ext cx="142684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900" algn="l"/>
              </a:tabLst>
            </a:pPr>
            <a:r>
              <a:rPr lang="es-ES" sz="2000" b="1" dirty="0">
                <a:latin typeface="Roboto"/>
                <a:cs typeface="Roboto"/>
              </a:rPr>
              <a:t>GELU</a:t>
            </a:r>
            <a:endParaRPr sz="2000" dirty="0">
              <a:latin typeface="Roboto"/>
              <a:cs typeface="Roboto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8A9E58-2D3D-D701-E82B-1F5E3D48545C}"/>
              </a:ext>
            </a:extLst>
          </p:cNvPr>
          <p:cNvSpPr txBox="1"/>
          <p:nvPr/>
        </p:nvSpPr>
        <p:spPr>
          <a:xfrm>
            <a:off x="76190" y="1105917"/>
            <a:ext cx="320040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Mezcla lo mejor de </a:t>
            </a:r>
            <a:r>
              <a:rPr lang="es-ES" sz="1400" b="1" dirty="0" err="1">
                <a:solidFill>
                  <a:srgbClr val="0E9D57"/>
                </a:solidFill>
                <a:latin typeface="Roboto"/>
                <a:cs typeface="Roboto"/>
              </a:rPr>
              <a:t>ReLU</a:t>
            </a: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 y funciones suaves.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Más “probabilística”: permite pequeñas activaciones negativas con peso proporcional a su valor.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E9D57"/>
                </a:solidFill>
                <a:latin typeface="Roboto"/>
                <a:cs typeface="Roboto"/>
              </a:rPr>
              <a:t>Mejora la estabilidad en Transformers y modelos modernos.</a:t>
            </a:r>
          </a:p>
          <a:p>
            <a:endParaRPr lang="es-ES" sz="1400" b="1" spc="-10" dirty="0">
              <a:solidFill>
                <a:srgbClr val="0E9D57"/>
              </a:solidFill>
              <a:latin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DB4437"/>
                </a:solidFill>
                <a:latin typeface="Roboto"/>
                <a:cs typeface="Roboto"/>
              </a:rPr>
              <a:t>Computacionalmente más costosa y lenta.</a:t>
            </a:r>
            <a:endParaRPr lang="es-PE" sz="14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BC0216D-D9DC-43B7-2AF3-C312D567C9CE}"/>
              </a:ext>
            </a:extLst>
          </p:cNvPr>
          <p:cNvSpPr txBox="1"/>
          <p:nvPr/>
        </p:nvSpPr>
        <p:spPr>
          <a:xfrm>
            <a:off x="1048061" y="4095750"/>
            <a:ext cx="68005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¿Cuándo usarla?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 modelos modernos tipo </a:t>
            </a:r>
            <a:r>
              <a:rPr lang="es-ES" sz="1400" b="1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Transformer</a:t>
            </a: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s-ES" sz="1400" b="1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Vision</a:t>
            </a: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Transformers, BERT, T5,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Cuando deseas suavidad y robustez numérica sin perder no linealidad.</a:t>
            </a:r>
            <a:endParaRPr lang="es-PE" sz="1400" b="1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8B728C5-CB0A-8073-05BE-DD4F02B77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599" y="636357"/>
            <a:ext cx="5791211" cy="188101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62E028B-7F2B-8231-0B2B-A27FEC12B7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118"/>
          <a:stretch>
            <a:fillRect/>
          </a:stretch>
        </p:blipFill>
        <p:spPr>
          <a:xfrm>
            <a:off x="3886200" y="499772"/>
            <a:ext cx="1615570" cy="27849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E368FB7-6C85-6C94-0ED2-EB14C969C7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0108"/>
          <a:stretch>
            <a:fillRect/>
          </a:stretch>
        </p:blipFill>
        <p:spPr>
          <a:xfrm>
            <a:off x="3524237" y="2571750"/>
            <a:ext cx="2343163" cy="49717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7A7B69E9-B2D0-B448-846A-7D88A8A154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2892" y="3015495"/>
            <a:ext cx="1691770" cy="512134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B94B537-1101-69C2-C148-699C1B99EEE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45" t="1" b="4371"/>
          <a:stretch>
            <a:fillRect/>
          </a:stretch>
        </p:blipFill>
        <p:spPr>
          <a:xfrm>
            <a:off x="3048000" y="3542006"/>
            <a:ext cx="3200409" cy="517035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23C4D93A-3066-F490-DD4E-15B4872353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548206"/>
            <a:ext cx="2496306" cy="456467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2BAEC580-A45F-8348-5E2E-5A65580A5C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0043" y="3123788"/>
            <a:ext cx="1677819" cy="419454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4C29C755-602D-6D28-204C-3A3C17D6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731" y="673066"/>
            <a:ext cx="5791211" cy="1881011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05381F2E-6037-8749-84C5-D763946F41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118"/>
          <a:stretch>
            <a:fillRect/>
          </a:stretch>
        </p:blipFill>
        <p:spPr>
          <a:xfrm>
            <a:off x="3871332" y="536481"/>
            <a:ext cx="1615570" cy="278497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7696843D-052A-7A96-0D6D-3C7C27088B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649"/>
          <a:stretch>
            <a:fillRect/>
          </a:stretch>
        </p:blipFill>
        <p:spPr>
          <a:xfrm>
            <a:off x="3828024" y="3101618"/>
            <a:ext cx="1691770" cy="462719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20059C45-D4DB-0C0A-DBB2-DF1A75E15AF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45" t="1" b="4371"/>
          <a:stretch>
            <a:fillRect/>
          </a:stretch>
        </p:blipFill>
        <p:spPr>
          <a:xfrm>
            <a:off x="3020432" y="3578715"/>
            <a:ext cx="3367668" cy="536579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B910D4AA-20F5-4691-8C3C-F7C58976DD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5932" y="2584915"/>
            <a:ext cx="2496306" cy="45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6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163" y="1759711"/>
            <a:ext cx="541147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b="0" spc="-30" dirty="0">
                <a:latin typeface="Roboto"/>
                <a:cs typeface="Roboto"/>
              </a:rPr>
              <a:t>Funciones</a:t>
            </a:r>
            <a:r>
              <a:rPr sz="4800" b="0" spc="-120" dirty="0">
                <a:latin typeface="Roboto"/>
                <a:cs typeface="Roboto"/>
              </a:rPr>
              <a:t> </a:t>
            </a:r>
            <a:r>
              <a:rPr sz="4800" b="0" dirty="0">
                <a:latin typeface="Roboto"/>
                <a:cs typeface="Roboto"/>
              </a:rPr>
              <a:t>de</a:t>
            </a:r>
            <a:r>
              <a:rPr sz="4800" b="0" spc="-114" dirty="0">
                <a:latin typeface="Roboto"/>
                <a:cs typeface="Roboto"/>
              </a:rPr>
              <a:t> </a:t>
            </a:r>
            <a:r>
              <a:rPr sz="4800" b="0" spc="-10" dirty="0">
                <a:latin typeface="Roboto"/>
                <a:cs typeface="Roboto"/>
              </a:rPr>
              <a:t>salida </a:t>
            </a:r>
            <a:r>
              <a:rPr sz="4800" b="0" dirty="0">
                <a:latin typeface="Roboto"/>
                <a:cs typeface="Roboto"/>
              </a:rPr>
              <a:t>Loss</a:t>
            </a:r>
            <a:r>
              <a:rPr sz="4800" b="0" spc="-160" dirty="0">
                <a:latin typeface="Roboto"/>
                <a:cs typeface="Roboto"/>
              </a:rPr>
              <a:t> </a:t>
            </a:r>
            <a:r>
              <a:rPr sz="4800" b="0" spc="-10" dirty="0">
                <a:latin typeface="Roboto"/>
                <a:cs typeface="Roboto"/>
              </a:rPr>
              <a:t>function</a:t>
            </a:r>
            <a:endParaRPr sz="4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Funciones</a:t>
            </a:r>
            <a:r>
              <a:rPr spc="-1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salida</a:t>
            </a:r>
            <a:r>
              <a:rPr spc="-50" dirty="0"/>
              <a:t> </a:t>
            </a:r>
            <a:r>
              <a:rPr dirty="0"/>
              <a:t>+</a:t>
            </a:r>
            <a:r>
              <a:rPr spc="-55" dirty="0"/>
              <a:t> </a:t>
            </a:r>
            <a:r>
              <a:rPr dirty="0"/>
              <a:t>Loss</a:t>
            </a:r>
            <a:r>
              <a:rPr spc="-65" dirty="0"/>
              <a:t> </a:t>
            </a:r>
            <a:r>
              <a:rPr spc="-10" dirty="0"/>
              <a:t>function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4901" y="691642"/>
            <a:ext cx="1280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900" algn="l"/>
              </a:tabLst>
            </a:pPr>
            <a:r>
              <a:rPr sz="1600" spc="-350" dirty="0">
                <a:latin typeface="Roboto"/>
                <a:cs typeface="Roboto"/>
              </a:rPr>
              <a:t>-</a:t>
            </a:r>
            <a:r>
              <a:rPr sz="1600" dirty="0">
                <a:latin typeface="Roboto"/>
                <a:cs typeface="Roboto"/>
              </a:rPr>
              <a:t>	</a:t>
            </a:r>
            <a:r>
              <a:rPr sz="1600" b="1" spc="-10" dirty="0">
                <a:latin typeface="Roboto"/>
                <a:cs typeface="Roboto"/>
              </a:rPr>
              <a:t>Regresión</a:t>
            </a:r>
            <a:endParaRPr sz="160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55001" y="1494282"/>
            <a:ext cx="635000" cy="7715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59173" y="3238245"/>
            <a:ext cx="25380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1</a:t>
            </a:r>
            <a:r>
              <a:rPr sz="1500" spc="-3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sola</a:t>
            </a:r>
            <a:r>
              <a:rPr sz="1500" spc="-3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DB4437"/>
                </a:solidFill>
                <a:latin typeface="Roboto"/>
                <a:cs typeface="Roboto"/>
              </a:rPr>
              <a:t>salida</a:t>
            </a:r>
            <a:r>
              <a:rPr sz="1500" spc="-4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=</a:t>
            </a:r>
            <a:r>
              <a:rPr sz="1500" spc="-3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1</a:t>
            </a:r>
            <a:r>
              <a:rPr sz="1500" spc="-3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sola</a:t>
            </a:r>
            <a:r>
              <a:rPr sz="1500" spc="-3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DB4437"/>
                </a:solidFill>
                <a:latin typeface="Roboto"/>
                <a:cs typeface="Roboto"/>
              </a:rPr>
              <a:t>neurona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97578" y="2717038"/>
            <a:ext cx="198120" cy="403225"/>
          </a:xfrm>
          <a:custGeom>
            <a:avLst/>
            <a:gdLst/>
            <a:ahLst/>
            <a:cxnLst/>
            <a:rect l="l" t="t" r="r" b="b"/>
            <a:pathLst>
              <a:path w="198120" h="403225">
                <a:moveTo>
                  <a:pt x="154861" y="338098"/>
                </a:moveTo>
                <a:lnTo>
                  <a:pt x="128905" y="350266"/>
                </a:lnTo>
                <a:lnTo>
                  <a:pt x="195834" y="403098"/>
                </a:lnTo>
                <a:lnTo>
                  <a:pt x="197172" y="350266"/>
                </a:lnTo>
                <a:lnTo>
                  <a:pt x="197188" y="349631"/>
                </a:lnTo>
                <a:lnTo>
                  <a:pt x="160274" y="349631"/>
                </a:lnTo>
                <a:lnTo>
                  <a:pt x="154861" y="338098"/>
                </a:lnTo>
                <a:close/>
              </a:path>
              <a:path w="198120" h="403225">
                <a:moveTo>
                  <a:pt x="172045" y="330043"/>
                </a:moveTo>
                <a:lnTo>
                  <a:pt x="154861" y="338098"/>
                </a:lnTo>
                <a:lnTo>
                  <a:pt x="160274" y="349631"/>
                </a:lnTo>
                <a:lnTo>
                  <a:pt x="177419" y="341503"/>
                </a:lnTo>
                <a:lnTo>
                  <a:pt x="172045" y="330043"/>
                </a:lnTo>
                <a:close/>
              </a:path>
              <a:path w="198120" h="403225">
                <a:moveTo>
                  <a:pt x="197993" y="317881"/>
                </a:moveTo>
                <a:lnTo>
                  <a:pt x="172045" y="330043"/>
                </a:lnTo>
                <a:lnTo>
                  <a:pt x="177419" y="341503"/>
                </a:lnTo>
                <a:lnTo>
                  <a:pt x="160274" y="349631"/>
                </a:lnTo>
                <a:lnTo>
                  <a:pt x="197188" y="349631"/>
                </a:lnTo>
                <a:lnTo>
                  <a:pt x="197993" y="317881"/>
                </a:lnTo>
                <a:close/>
              </a:path>
              <a:path w="198120" h="403225">
                <a:moveTo>
                  <a:pt x="17272" y="0"/>
                </a:moveTo>
                <a:lnTo>
                  <a:pt x="0" y="8128"/>
                </a:lnTo>
                <a:lnTo>
                  <a:pt x="154861" y="338098"/>
                </a:lnTo>
                <a:lnTo>
                  <a:pt x="172045" y="330043"/>
                </a:lnTo>
                <a:lnTo>
                  <a:pt x="17272" y="0"/>
                </a:lnTo>
                <a:close/>
              </a:path>
            </a:pathLst>
          </a:custGeom>
          <a:solidFill>
            <a:srgbClr val="DB4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96285" y="1846580"/>
            <a:ext cx="4019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Roboto"/>
                <a:cs typeface="Roboto"/>
              </a:rPr>
              <a:t>(...)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879" y="1274526"/>
            <a:ext cx="361315" cy="128397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5"/>
              </a:spcBef>
            </a:pPr>
            <a:r>
              <a:rPr sz="2250" spc="-30" baseline="12962" dirty="0">
                <a:latin typeface="Roboto"/>
                <a:cs typeface="Roboto"/>
              </a:rPr>
              <a:t>X</a:t>
            </a:r>
            <a:r>
              <a:rPr sz="1000" spc="-20" dirty="0">
                <a:latin typeface="Roboto"/>
                <a:cs typeface="Roboto"/>
              </a:rPr>
              <a:t>i,1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sz="2250" spc="-30" baseline="12962" dirty="0">
                <a:latin typeface="Roboto"/>
                <a:cs typeface="Roboto"/>
              </a:rPr>
              <a:t>X</a:t>
            </a:r>
            <a:r>
              <a:rPr sz="1000" spc="-20" dirty="0">
                <a:latin typeface="Roboto"/>
                <a:cs typeface="Roboto"/>
              </a:rPr>
              <a:t>i,2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25"/>
              </a:spcBef>
            </a:pPr>
            <a:r>
              <a:rPr sz="1000" spc="-50" dirty="0">
                <a:latin typeface="Roboto"/>
                <a:cs typeface="Roboto"/>
              </a:rPr>
              <a:t>…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sz="2250" spc="-30" baseline="12962" dirty="0">
                <a:latin typeface="Roboto"/>
                <a:cs typeface="Roboto"/>
              </a:rPr>
              <a:t>X</a:t>
            </a:r>
            <a:r>
              <a:rPr sz="1000" spc="-20" dirty="0">
                <a:latin typeface="Roboto"/>
                <a:cs typeface="Roboto"/>
              </a:rPr>
              <a:t>i,m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3803" y="11292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60601" y="11292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40970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2091" y="2402967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2091" y="2114804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2091" y="1723898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300" y="42799"/>
                </a:lnTo>
                <a:lnTo>
                  <a:pt x="368198" y="42799"/>
                </a:lnTo>
                <a:lnTo>
                  <a:pt x="368198" y="33274"/>
                </a:lnTo>
                <a:lnTo>
                  <a:pt x="422046" y="33274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55498" y="42799"/>
                </a:lnTo>
                <a:lnTo>
                  <a:pt x="355498" y="33274"/>
                </a:lnTo>
                <a:close/>
              </a:path>
              <a:path w="431800" h="76200">
                <a:moveTo>
                  <a:pt x="422046" y="33274"/>
                </a:moveTo>
                <a:lnTo>
                  <a:pt x="368198" y="33274"/>
                </a:lnTo>
                <a:lnTo>
                  <a:pt x="368198" y="42799"/>
                </a:lnTo>
                <a:lnTo>
                  <a:pt x="422300" y="42799"/>
                </a:lnTo>
                <a:lnTo>
                  <a:pt x="431698" y="38100"/>
                </a:lnTo>
                <a:lnTo>
                  <a:pt x="422046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2091" y="136271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73835" y="24029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73835" y="21148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73835" y="1723898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8" y="33274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30" h="76200">
                <a:moveTo>
                  <a:pt x="268478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73835" y="13627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12035" y="24029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12035" y="21148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12035" y="1723898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7" y="33274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30" h="76200">
                <a:moveTo>
                  <a:pt x="268477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7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12035" y="13627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756277" y="1740776"/>
            <a:ext cx="897890" cy="406400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720"/>
              </a:spcBef>
            </a:pPr>
            <a:r>
              <a:rPr sz="1400" spc="-25" dirty="0">
                <a:solidFill>
                  <a:srgbClr val="1F1F1F"/>
                </a:solidFill>
                <a:latin typeface="Arial MT"/>
                <a:cs typeface="Arial MT"/>
              </a:rPr>
              <a:t>MSE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124958" y="2146680"/>
            <a:ext cx="160655" cy="616585"/>
            <a:chOff x="5124958" y="2146680"/>
            <a:chExt cx="160655" cy="616585"/>
          </a:xfrm>
        </p:grpSpPr>
        <p:sp>
          <p:nvSpPr>
            <p:cNvPr id="26" name="object 26"/>
            <p:cNvSpPr/>
            <p:nvPr/>
          </p:nvSpPr>
          <p:spPr>
            <a:xfrm>
              <a:off x="5166995" y="2146680"/>
              <a:ext cx="76200" cy="424180"/>
            </a:xfrm>
            <a:custGeom>
              <a:avLst/>
              <a:gdLst/>
              <a:ahLst/>
              <a:cxnLst/>
              <a:rect l="l" t="t" r="r" b="b"/>
              <a:pathLst>
                <a:path w="76200" h="424180">
                  <a:moveTo>
                    <a:pt x="42799" y="63500"/>
                  </a:moveTo>
                  <a:lnTo>
                    <a:pt x="33274" y="63500"/>
                  </a:lnTo>
                  <a:lnTo>
                    <a:pt x="33274" y="423671"/>
                  </a:lnTo>
                  <a:lnTo>
                    <a:pt x="42799" y="423671"/>
                  </a:lnTo>
                  <a:lnTo>
                    <a:pt x="42799" y="63500"/>
                  </a:lnTo>
                  <a:close/>
                </a:path>
                <a:path w="76200" h="424180">
                  <a:moveTo>
                    <a:pt x="38100" y="0"/>
                  </a:moveTo>
                  <a:lnTo>
                    <a:pt x="0" y="76200"/>
                  </a:lnTo>
                  <a:lnTo>
                    <a:pt x="33274" y="76200"/>
                  </a:lnTo>
                  <a:lnTo>
                    <a:pt x="3327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4180">
                  <a:moveTo>
                    <a:pt x="69850" y="63500"/>
                  </a:moveTo>
                  <a:lnTo>
                    <a:pt x="42799" y="63500"/>
                  </a:lnTo>
                  <a:lnTo>
                    <a:pt x="42799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4958" y="2612199"/>
              <a:ext cx="160337" cy="150812"/>
            </a:xfrm>
            <a:prstGeom prst="rect">
              <a:avLst/>
            </a:prstGeom>
          </p:spPr>
        </p:pic>
      </p:grpSp>
      <p:sp>
        <p:nvSpPr>
          <p:cNvPr id="28" name="object 28"/>
          <p:cNvSpPr/>
          <p:nvPr/>
        </p:nvSpPr>
        <p:spPr>
          <a:xfrm>
            <a:off x="5653785" y="1903348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77631" y="33146"/>
                </a:moveTo>
                <a:lnTo>
                  <a:pt x="422275" y="33146"/>
                </a:lnTo>
                <a:lnTo>
                  <a:pt x="422401" y="42671"/>
                </a:lnTo>
                <a:lnTo>
                  <a:pt x="409638" y="42848"/>
                </a:lnTo>
                <a:lnTo>
                  <a:pt x="410083" y="76200"/>
                </a:lnTo>
                <a:lnTo>
                  <a:pt x="485775" y="37083"/>
                </a:lnTo>
                <a:lnTo>
                  <a:pt x="477631" y="33146"/>
                </a:lnTo>
                <a:close/>
              </a:path>
              <a:path w="485775" h="76200">
                <a:moveTo>
                  <a:pt x="409511" y="33323"/>
                </a:moveTo>
                <a:lnTo>
                  <a:pt x="0" y="38988"/>
                </a:lnTo>
                <a:lnTo>
                  <a:pt x="126" y="48513"/>
                </a:lnTo>
                <a:lnTo>
                  <a:pt x="409638" y="42848"/>
                </a:lnTo>
                <a:lnTo>
                  <a:pt x="409511" y="33323"/>
                </a:lnTo>
                <a:close/>
              </a:path>
              <a:path w="485775" h="76200">
                <a:moveTo>
                  <a:pt x="422275" y="33146"/>
                </a:moveTo>
                <a:lnTo>
                  <a:pt x="409511" y="33323"/>
                </a:lnTo>
                <a:lnTo>
                  <a:pt x="409638" y="42848"/>
                </a:lnTo>
                <a:lnTo>
                  <a:pt x="422401" y="42671"/>
                </a:lnTo>
                <a:lnTo>
                  <a:pt x="422275" y="33146"/>
                </a:lnTo>
                <a:close/>
              </a:path>
              <a:path w="485775" h="76200">
                <a:moveTo>
                  <a:pt x="409066" y="0"/>
                </a:moveTo>
                <a:lnTo>
                  <a:pt x="409508" y="33146"/>
                </a:lnTo>
                <a:lnTo>
                  <a:pt x="409511" y="33323"/>
                </a:lnTo>
                <a:lnTo>
                  <a:pt x="422275" y="33146"/>
                </a:lnTo>
                <a:lnTo>
                  <a:pt x="477631" y="33146"/>
                </a:lnTo>
                <a:lnTo>
                  <a:pt x="409066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4279138" y="1678939"/>
            <a:ext cx="485775" cy="309245"/>
            <a:chOff x="4279138" y="1678939"/>
            <a:chExt cx="485775" cy="309245"/>
          </a:xfrm>
        </p:grpSpPr>
        <p:sp>
          <p:nvSpPr>
            <p:cNvPr id="30" name="object 30"/>
            <p:cNvSpPr/>
            <p:nvPr/>
          </p:nvSpPr>
          <p:spPr>
            <a:xfrm>
              <a:off x="4279138" y="1911730"/>
              <a:ext cx="485775" cy="76200"/>
            </a:xfrm>
            <a:custGeom>
              <a:avLst/>
              <a:gdLst/>
              <a:ahLst/>
              <a:cxnLst/>
              <a:rect l="l" t="t" r="r" b="b"/>
              <a:pathLst>
                <a:path w="485775" h="76200">
                  <a:moveTo>
                    <a:pt x="477894" y="33274"/>
                  </a:moveTo>
                  <a:lnTo>
                    <a:pt x="422275" y="33274"/>
                  </a:lnTo>
                  <a:lnTo>
                    <a:pt x="422401" y="42671"/>
                  </a:lnTo>
                  <a:lnTo>
                    <a:pt x="409638" y="42848"/>
                  </a:lnTo>
                  <a:lnTo>
                    <a:pt x="410083" y="76200"/>
                  </a:lnTo>
                  <a:lnTo>
                    <a:pt x="485775" y="37083"/>
                  </a:lnTo>
                  <a:lnTo>
                    <a:pt x="477894" y="33274"/>
                  </a:lnTo>
                  <a:close/>
                </a:path>
                <a:path w="485775" h="76200">
                  <a:moveTo>
                    <a:pt x="409512" y="33446"/>
                  </a:moveTo>
                  <a:lnTo>
                    <a:pt x="0" y="38988"/>
                  </a:lnTo>
                  <a:lnTo>
                    <a:pt x="126" y="48513"/>
                  </a:lnTo>
                  <a:lnTo>
                    <a:pt x="409638" y="42848"/>
                  </a:lnTo>
                  <a:lnTo>
                    <a:pt x="409512" y="33446"/>
                  </a:lnTo>
                  <a:close/>
                </a:path>
                <a:path w="485775" h="76200">
                  <a:moveTo>
                    <a:pt x="422275" y="33274"/>
                  </a:moveTo>
                  <a:lnTo>
                    <a:pt x="409512" y="33446"/>
                  </a:lnTo>
                  <a:lnTo>
                    <a:pt x="409638" y="42848"/>
                  </a:lnTo>
                  <a:lnTo>
                    <a:pt x="422401" y="42671"/>
                  </a:lnTo>
                  <a:lnTo>
                    <a:pt x="422275" y="33274"/>
                  </a:lnTo>
                  <a:close/>
                </a:path>
                <a:path w="485775" h="76200">
                  <a:moveTo>
                    <a:pt x="409066" y="0"/>
                  </a:moveTo>
                  <a:lnTo>
                    <a:pt x="409510" y="33274"/>
                  </a:lnTo>
                  <a:lnTo>
                    <a:pt x="409512" y="33446"/>
                  </a:lnTo>
                  <a:lnTo>
                    <a:pt x="422275" y="33274"/>
                  </a:lnTo>
                  <a:lnTo>
                    <a:pt x="477894" y="33274"/>
                  </a:lnTo>
                  <a:lnTo>
                    <a:pt x="409066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41952" y="1678939"/>
              <a:ext cx="160337" cy="203200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6267450" y="1792668"/>
            <a:ext cx="1016000" cy="579755"/>
            <a:chOff x="6267450" y="1792668"/>
            <a:chExt cx="1016000" cy="579755"/>
          </a:xfrm>
        </p:grpSpPr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73037" y="1792668"/>
              <a:ext cx="1004887" cy="32543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7450" y="2152903"/>
              <a:ext cx="1016000" cy="219075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3733165" y="11292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33350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(O)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301491" y="2402967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73" y="0"/>
                </a:moveTo>
                <a:lnTo>
                  <a:pt x="355473" y="76200"/>
                </a:lnTo>
                <a:lnTo>
                  <a:pt x="422021" y="42925"/>
                </a:lnTo>
                <a:lnTo>
                  <a:pt x="368173" y="42925"/>
                </a:lnTo>
                <a:lnTo>
                  <a:pt x="368173" y="33400"/>
                </a:lnTo>
                <a:lnTo>
                  <a:pt x="422275" y="33400"/>
                </a:lnTo>
                <a:lnTo>
                  <a:pt x="355473" y="0"/>
                </a:lnTo>
                <a:close/>
              </a:path>
              <a:path w="431800" h="76200">
                <a:moveTo>
                  <a:pt x="355473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73" y="42925"/>
                </a:lnTo>
                <a:lnTo>
                  <a:pt x="355473" y="33400"/>
                </a:lnTo>
                <a:close/>
              </a:path>
              <a:path w="431800" h="76200">
                <a:moveTo>
                  <a:pt x="422275" y="33400"/>
                </a:moveTo>
                <a:lnTo>
                  <a:pt x="368173" y="33400"/>
                </a:lnTo>
                <a:lnTo>
                  <a:pt x="368173" y="42925"/>
                </a:lnTo>
                <a:lnTo>
                  <a:pt x="422021" y="42925"/>
                </a:lnTo>
                <a:lnTo>
                  <a:pt x="431673" y="38100"/>
                </a:lnTo>
                <a:lnTo>
                  <a:pt x="422275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301491" y="2114804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73" y="0"/>
                </a:moveTo>
                <a:lnTo>
                  <a:pt x="355473" y="76200"/>
                </a:lnTo>
                <a:lnTo>
                  <a:pt x="422021" y="42925"/>
                </a:lnTo>
                <a:lnTo>
                  <a:pt x="368173" y="42925"/>
                </a:lnTo>
                <a:lnTo>
                  <a:pt x="368173" y="33400"/>
                </a:lnTo>
                <a:lnTo>
                  <a:pt x="422275" y="33400"/>
                </a:lnTo>
                <a:lnTo>
                  <a:pt x="355473" y="0"/>
                </a:lnTo>
                <a:close/>
              </a:path>
              <a:path w="431800" h="76200">
                <a:moveTo>
                  <a:pt x="355473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73" y="42925"/>
                </a:lnTo>
                <a:lnTo>
                  <a:pt x="355473" y="33400"/>
                </a:lnTo>
                <a:close/>
              </a:path>
              <a:path w="431800" h="76200">
                <a:moveTo>
                  <a:pt x="422275" y="33400"/>
                </a:moveTo>
                <a:lnTo>
                  <a:pt x="368173" y="33400"/>
                </a:lnTo>
                <a:lnTo>
                  <a:pt x="368173" y="42925"/>
                </a:lnTo>
                <a:lnTo>
                  <a:pt x="422021" y="42925"/>
                </a:lnTo>
                <a:lnTo>
                  <a:pt x="431673" y="38100"/>
                </a:lnTo>
                <a:lnTo>
                  <a:pt x="422275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301491" y="1723898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73" y="0"/>
                </a:moveTo>
                <a:lnTo>
                  <a:pt x="355473" y="76200"/>
                </a:lnTo>
                <a:lnTo>
                  <a:pt x="422275" y="42799"/>
                </a:lnTo>
                <a:lnTo>
                  <a:pt x="368173" y="42799"/>
                </a:lnTo>
                <a:lnTo>
                  <a:pt x="368173" y="33274"/>
                </a:lnTo>
                <a:lnTo>
                  <a:pt x="422021" y="33274"/>
                </a:lnTo>
                <a:lnTo>
                  <a:pt x="355473" y="0"/>
                </a:lnTo>
                <a:close/>
              </a:path>
              <a:path w="431800" h="76200">
                <a:moveTo>
                  <a:pt x="355473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55473" y="42799"/>
                </a:lnTo>
                <a:lnTo>
                  <a:pt x="355473" y="33274"/>
                </a:lnTo>
                <a:close/>
              </a:path>
              <a:path w="431800" h="76200">
                <a:moveTo>
                  <a:pt x="422021" y="33274"/>
                </a:moveTo>
                <a:lnTo>
                  <a:pt x="368173" y="33274"/>
                </a:lnTo>
                <a:lnTo>
                  <a:pt x="368173" y="42799"/>
                </a:lnTo>
                <a:lnTo>
                  <a:pt x="422275" y="42799"/>
                </a:lnTo>
                <a:lnTo>
                  <a:pt x="431673" y="38100"/>
                </a:lnTo>
                <a:lnTo>
                  <a:pt x="422021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301491" y="136271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73" y="0"/>
                </a:moveTo>
                <a:lnTo>
                  <a:pt x="355473" y="76200"/>
                </a:lnTo>
                <a:lnTo>
                  <a:pt x="422021" y="42925"/>
                </a:lnTo>
                <a:lnTo>
                  <a:pt x="368173" y="42925"/>
                </a:lnTo>
                <a:lnTo>
                  <a:pt x="368173" y="33400"/>
                </a:lnTo>
                <a:lnTo>
                  <a:pt x="422275" y="33400"/>
                </a:lnTo>
                <a:lnTo>
                  <a:pt x="355473" y="0"/>
                </a:lnTo>
                <a:close/>
              </a:path>
              <a:path w="431800" h="76200">
                <a:moveTo>
                  <a:pt x="355473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73" y="42925"/>
                </a:lnTo>
                <a:lnTo>
                  <a:pt x="355473" y="33400"/>
                </a:lnTo>
                <a:close/>
              </a:path>
              <a:path w="431800" h="76200">
                <a:moveTo>
                  <a:pt x="422275" y="33400"/>
                </a:moveTo>
                <a:lnTo>
                  <a:pt x="368173" y="33400"/>
                </a:lnTo>
                <a:lnTo>
                  <a:pt x="368173" y="42925"/>
                </a:lnTo>
                <a:lnTo>
                  <a:pt x="422021" y="42925"/>
                </a:lnTo>
                <a:lnTo>
                  <a:pt x="431673" y="38100"/>
                </a:lnTo>
                <a:lnTo>
                  <a:pt x="422275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4B626892-4AFB-0770-3571-85DAF77190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9050" y="3754068"/>
            <a:ext cx="2886478" cy="9145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Funciones</a:t>
            </a:r>
            <a:r>
              <a:rPr spc="-1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salida</a:t>
            </a:r>
            <a:r>
              <a:rPr spc="-50" dirty="0"/>
              <a:t> </a:t>
            </a:r>
            <a:r>
              <a:rPr dirty="0"/>
              <a:t>+</a:t>
            </a:r>
            <a:r>
              <a:rPr spc="-55" dirty="0"/>
              <a:t> </a:t>
            </a:r>
            <a:r>
              <a:rPr dirty="0"/>
              <a:t>Loss</a:t>
            </a:r>
            <a:r>
              <a:rPr spc="-65" dirty="0"/>
              <a:t> </a:t>
            </a:r>
            <a:r>
              <a:rPr spc="-10" dirty="0"/>
              <a:t>function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4901" y="691642"/>
            <a:ext cx="22199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900" algn="l"/>
              </a:tabLst>
            </a:pPr>
            <a:r>
              <a:rPr sz="1600" spc="-350" dirty="0">
                <a:latin typeface="Roboto"/>
                <a:cs typeface="Roboto"/>
              </a:rPr>
              <a:t>-</a:t>
            </a:r>
            <a:r>
              <a:rPr sz="1600" dirty="0">
                <a:latin typeface="Roboto"/>
                <a:cs typeface="Roboto"/>
              </a:rPr>
              <a:t>	</a:t>
            </a:r>
            <a:r>
              <a:rPr sz="1600" b="1" dirty="0">
                <a:latin typeface="Roboto"/>
                <a:cs typeface="Roboto"/>
              </a:rPr>
              <a:t>Clasificación </a:t>
            </a:r>
            <a:r>
              <a:rPr sz="1600" b="1" spc="-10" dirty="0">
                <a:latin typeface="Roboto"/>
                <a:cs typeface="Roboto"/>
              </a:rPr>
              <a:t>binaria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9173" y="3238245"/>
            <a:ext cx="25380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1</a:t>
            </a:r>
            <a:r>
              <a:rPr sz="1500" spc="-3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sola</a:t>
            </a:r>
            <a:r>
              <a:rPr sz="1500" spc="-3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DB4437"/>
                </a:solidFill>
                <a:latin typeface="Roboto"/>
                <a:cs typeface="Roboto"/>
              </a:rPr>
              <a:t>salida</a:t>
            </a:r>
            <a:r>
              <a:rPr sz="1500" spc="-4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=</a:t>
            </a:r>
            <a:r>
              <a:rPr sz="1500" spc="-3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1</a:t>
            </a:r>
            <a:r>
              <a:rPr sz="1500" spc="-3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sola</a:t>
            </a:r>
            <a:r>
              <a:rPr sz="1500" spc="-3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DB4437"/>
                </a:solidFill>
                <a:latin typeface="Roboto"/>
                <a:cs typeface="Roboto"/>
              </a:rPr>
              <a:t>neurona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97578" y="2717038"/>
            <a:ext cx="198120" cy="403225"/>
          </a:xfrm>
          <a:custGeom>
            <a:avLst/>
            <a:gdLst/>
            <a:ahLst/>
            <a:cxnLst/>
            <a:rect l="l" t="t" r="r" b="b"/>
            <a:pathLst>
              <a:path w="198120" h="403225">
                <a:moveTo>
                  <a:pt x="154861" y="338098"/>
                </a:moveTo>
                <a:lnTo>
                  <a:pt x="128905" y="350266"/>
                </a:lnTo>
                <a:lnTo>
                  <a:pt x="195834" y="403098"/>
                </a:lnTo>
                <a:lnTo>
                  <a:pt x="197172" y="350266"/>
                </a:lnTo>
                <a:lnTo>
                  <a:pt x="197188" y="349631"/>
                </a:lnTo>
                <a:lnTo>
                  <a:pt x="160274" y="349631"/>
                </a:lnTo>
                <a:lnTo>
                  <a:pt x="154861" y="338098"/>
                </a:lnTo>
                <a:close/>
              </a:path>
              <a:path w="198120" h="403225">
                <a:moveTo>
                  <a:pt x="172045" y="330043"/>
                </a:moveTo>
                <a:lnTo>
                  <a:pt x="154861" y="338098"/>
                </a:lnTo>
                <a:lnTo>
                  <a:pt x="160274" y="349631"/>
                </a:lnTo>
                <a:lnTo>
                  <a:pt x="177419" y="341503"/>
                </a:lnTo>
                <a:lnTo>
                  <a:pt x="172045" y="330043"/>
                </a:lnTo>
                <a:close/>
              </a:path>
              <a:path w="198120" h="403225">
                <a:moveTo>
                  <a:pt x="197993" y="317881"/>
                </a:moveTo>
                <a:lnTo>
                  <a:pt x="172045" y="330043"/>
                </a:lnTo>
                <a:lnTo>
                  <a:pt x="177419" y="341503"/>
                </a:lnTo>
                <a:lnTo>
                  <a:pt x="160274" y="349631"/>
                </a:lnTo>
                <a:lnTo>
                  <a:pt x="197188" y="349631"/>
                </a:lnTo>
                <a:lnTo>
                  <a:pt x="197993" y="317881"/>
                </a:lnTo>
                <a:close/>
              </a:path>
              <a:path w="198120" h="403225">
                <a:moveTo>
                  <a:pt x="17272" y="0"/>
                </a:moveTo>
                <a:lnTo>
                  <a:pt x="0" y="8128"/>
                </a:lnTo>
                <a:lnTo>
                  <a:pt x="154861" y="338098"/>
                </a:lnTo>
                <a:lnTo>
                  <a:pt x="172045" y="330043"/>
                </a:lnTo>
                <a:lnTo>
                  <a:pt x="17272" y="0"/>
                </a:lnTo>
                <a:close/>
              </a:path>
            </a:pathLst>
          </a:custGeom>
          <a:solidFill>
            <a:srgbClr val="DB4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96285" y="1846580"/>
            <a:ext cx="4019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Roboto"/>
                <a:cs typeface="Roboto"/>
              </a:rPr>
              <a:t>(...)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879" y="1274526"/>
            <a:ext cx="361315" cy="128397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5"/>
              </a:spcBef>
            </a:pPr>
            <a:r>
              <a:rPr sz="2250" spc="-30" baseline="12962" dirty="0">
                <a:latin typeface="Roboto"/>
                <a:cs typeface="Roboto"/>
              </a:rPr>
              <a:t>X</a:t>
            </a:r>
            <a:r>
              <a:rPr sz="1000" spc="-20" dirty="0">
                <a:latin typeface="Roboto"/>
                <a:cs typeface="Roboto"/>
              </a:rPr>
              <a:t>i,1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sz="2250" spc="-30" baseline="12962" dirty="0">
                <a:latin typeface="Roboto"/>
                <a:cs typeface="Roboto"/>
              </a:rPr>
              <a:t>X</a:t>
            </a:r>
            <a:r>
              <a:rPr sz="1000" spc="-20" dirty="0">
                <a:latin typeface="Roboto"/>
                <a:cs typeface="Roboto"/>
              </a:rPr>
              <a:t>i,2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25"/>
              </a:spcBef>
            </a:pPr>
            <a:r>
              <a:rPr sz="1000" spc="-50" dirty="0">
                <a:latin typeface="Roboto"/>
                <a:cs typeface="Roboto"/>
              </a:rPr>
              <a:t>…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sz="2250" spc="-30" baseline="12962" dirty="0">
                <a:latin typeface="Roboto"/>
                <a:cs typeface="Roboto"/>
              </a:rPr>
              <a:t>X</a:t>
            </a:r>
            <a:r>
              <a:rPr sz="1000" spc="-20" dirty="0">
                <a:latin typeface="Roboto"/>
                <a:cs typeface="Roboto"/>
              </a:rPr>
              <a:t>i,m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3803" y="11292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0601" y="11292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40970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2091" y="2402967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2091" y="2114804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2091" y="1723898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300" y="42799"/>
                </a:lnTo>
                <a:lnTo>
                  <a:pt x="368198" y="42799"/>
                </a:lnTo>
                <a:lnTo>
                  <a:pt x="368198" y="33274"/>
                </a:lnTo>
                <a:lnTo>
                  <a:pt x="422046" y="33274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55498" y="42799"/>
                </a:lnTo>
                <a:lnTo>
                  <a:pt x="355498" y="33274"/>
                </a:lnTo>
                <a:close/>
              </a:path>
              <a:path w="431800" h="76200">
                <a:moveTo>
                  <a:pt x="422046" y="33274"/>
                </a:moveTo>
                <a:lnTo>
                  <a:pt x="368198" y="33274"/>
                </a:lnTo>
                <a:lnTo>
                  <a:pt x="368198" y="42799"/>
                </a:lnTo>
                <a:lnTo>
                  <a:pt x="422300" y="42799"/>
                </a:lnTo>
                <a:lnTo>
                  <a:pt x="431698" y="38100"/>
                </a:lnTo>
                <a:lnTo>
                  <a:pt x="422046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2091" y="136271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73835" y="24029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73835" y="21148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73835" y="1723898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8" y="33274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30" h="76200">
                <a:moveTo>
                  <a:pt x="268478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73835" y="13627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12035" y="24029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12035" y="21148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12035" y="1723898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7" y="33274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30" h="76200">
                <a:moveTo>
                  <a:pt x="268477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7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12035" y="13627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614289" y="1740776"/>
            <a:ext cx="897890" cy="406400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720"/>
              </a:spcBef>
            </a:pPr>
            <a:r>
              <a:rPr sz="1400" spc="-25" dirty="0">
                <a:solidFill>
                  <a:srgbClr val="1F1F1F"/>
                </a:solidFill>
                <a:latin typeface="Arial MT"/>
                <a:cs typeface="Arial MT"/>
              </a:rPr>
              <a:t>BCE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82970" y="2146680"/>
            <a:ext cx="160655" cy="616585"/>
            <a:chOff x="5982970" y="2146680"/>
            <a:chExt cx="160655" cy="616585"/>
          </a:xfrm>
        </p:grpSpPr>
        <p:sp>
          <p:nvSpPr>
            <p:cNvPr id="25" name="object 25"/>
            <p:cNvSpPr/>
            <p:nvPr/>
          </p:nvSpPr>
          <p:spPr>
            <a:xfrm>
              <a:off x="6025007" y="2146680"/>
              <a:ext cx="76200" cy="424180"/>
            </a:xfrm>
            <a:custGeom>
              <a:avLst/>
              <a:gdLst/>
              <a:ahLst/>
              <a:cxnLst/>
              <a:rect l="l" t="t" r="r" b="b"/>
              <a:pathLst>
                <a:path w="76200" h="424180">
                  <a:moveTo>
                    <a:pt x="42925" y="63500"/>
                  </a:moveTo>
                  <a:lnTo>
                    <a:pt x="33400" y="63500"/>
                  </a:lnTo>
                  <a:lnTo>
                    <a:pt x="33400" y="423671"/>
                  </a:lnTo>
                  <a:lnTo>
                    <a:pt x="42925" y="423671"/>
                  </a:lnTo>
                  <a:lnTo>
                    <a:pt x="42925" y="63500"/>
                  </a:lnTo>
                  <a:close/>
                </a:path>
                <a:path w="76200" h="424180">
                  <a:moveTo>
                    <a:pt x="38100" y="0"/>
                  </a:moveTo>
                  <a:lnTo>
                    <a:pt x="0" y="76200"/>
                  </a:lnTo>
                  <a:lnTo>
                    <a:pt x="33400" y="76200"/>
                  </a:lnTo>
                  <a:lnTo>
                    <a:pt x="33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4180">
                  <a:moveTo>
                    <a:pt x="69850" y="63500"/>
                  </a:moveTo>
                  <a:lnTo>
                    <a:pt x="42925" y="63500"/>
                  </a:lnTo>
                  <a:lnTo>
                    <a:pt x="429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2970" y="2612199"/>
              <a:ext cx="160337" cy="150812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6511925" y="1903348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77504" y="33146"/>
                </a:moveTo>
                <a:lnTo>
                  <a:pt x="422148" y="33146"/>
                </a:lnTo>
                <a:lnTo>
                  <a:pt x="422275" y="42671"/>
                </a:lnTo>
                <a:lnTo>
                  <a:pt x="409582" y="42847"/>
                </a:lnTo>
                <a:lnTo>
                  <a:pt x="410082" y="76200"/>
                </a:lnTo>
                <a:lnTo>
                  <a:pt x="485648" y="37083"/>
                </a:lnTo>
                <a:lnTo>
                  <a:pt x="477504" y="33146"/>
                </a:lnTo>
                <a:close/>
              </a:path>
              <a:path w="485775" h="76200">
                <a:moveTo>
                  <a:pt x="409439" y="33322"/>
                </a:moveTo>
                <a:lnTo>
                  <a:pt x="0" y="38988"/>
                </a:lnTo>
                <a:lnTo>
                  <a:pt x="126" y="48513"/>
                </a:lnTo>
                <a:lnTo>
                  <a:pt x="409582" y="42847"/>
                </a:lnTo>
                <a:lnTo>
                  <a:pt x="409496" y="37083"/>
                </a:lnTo>
                <a:lnTo>
                  <a:pt x="409439" y="33322"/>
                </a:lnTo>
                <a:close/>
              </a:path>
              <a:path w="485775" h="76200">
                <a:moveTo>
                  <a:pt x="422148" y="33146"/>
                </a:moveTo>
                <a:lnTo>
                  <a:pt x="409439" y="33322"/>
                </a:lnTo>
                <a:lnTo>
                  <a:pt x="409496" y="37083"/>
                </a:lnTo>
                <a:lnTo>
                  <a:pt x="409582" y="42847"/>
                </a:lnTo>
                <a:lnTo>
                  <a:pt x="422275" y="42671"/>
                </a:lnTo>
                <a:lnTo>
                  <a:pt x="422148" y="33146"/>
                </a:lnTo>
                <a:close/>
              </a:path>
              <a:path w="485775" h="76200">
                <a:moveTo>
                  <a:pt x="408940" y="0"/>
                </a:moveTo>
                <a:lnTo>
                  <a:pt x="409437" y="33146"/>
                </a:lnTo>
                <a:lnTo>
                  <a:pt x="409439" y="33322"/>
                </a:lnTo>
                <a:lnTo>
                  <a:pt x="422148" y="33146"/>
                </a:lnTo>
                <a:lnTo>
                  <a:pt x="477504" y="33146"/>
                </a:lnTo>
                <a:lnTo>
                  <a:pt x="408940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1050" y="1792668"/>
            <a:ext cx="1004887" cy="325437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5137277" y="1678939"/>
            <a:ext cx="485775" cy="309245"/>
            <a:chOff x="5137277" y="1678939"/>
            <a:chExt cx="485775" cy="309245"/>
          </a:xfrm>
        </p:grpSpPr>
        <p:sp>
          <p:nvSpPr>
            <p:cNvPr id="30" name="object 30"/>
            <p:cNvSpPr/>
            <p:nvPr/>
          </p:nvSpPr>
          <p:spPr>
            <a:xfrm>
              <a:off x="5137277" y="1911730"/>
              <a:ext cx="485775" cy="76200"/>
            </a:xfrm>
            <a:custGeom>
              <a:avLst/>
              <a:gdLst/>
              <a:ahLst/>
              <a:cxnLst/>
              <a:rect l="l" t="t" r="r" b="b"/>
              <a:pathLst>
                <a:path w="485775" h="76200">
                  <a:moveTo>
                    <a:pt x="477767" y="33274"/>
                  </a:moveTo>
                  <a:lnTo>
                    <a:pt x="422148" y="33274"/>
                  </a:lnTo>
                  <a:lnTo>
                    <a:pt x="422275" y="42671"/>
                  </a:lnTo>
                  <a:lnTo>
                    <a:pt x="409582" y="42847"/>
                  </a:lnTo>
                  <a:lnTo>
                    <a:pt x="410083" y="76200"/>
                  </a:lnTo>
                  <a:lnTo>
                    <a:pt x="485648" y="37083"/>
                  </a:lnTo>
                  <a:lnTo>
                    <a:pt x="477767" y="33274"/>
                  </a:lnTo>
                  <a:close/>
                </a:path>
                <a:path w="485775" h="76200">
                  <a:moveTo>
                    <a:pt x="409441" y="33446"/>
                  </a:moveTo>
                  <a:lnTo>
                    <a:pt x="0" y="38988"/>
                  </a:lnTo>
                  <a:lnTo>
                    <a:pt x="126" y="48513"/>
                  </a:lnTo>
                  <a:lnTo>
                    <a:pt x="409582" y="42847"/>
                  </a:lnTo>
                  <a:lnTo>
                    <a:pt x="409496" y="37083"/>
                  </a:lnTo>
                  <a:lnTo>
                    <a:pt x="409441" y="33446"/>
                  </a:lnTo>
                  <a:close/>
                </a:path>
                <a:path w="485775" h="76200">
                  <a:moveTo>
                    <a:pt x="422148" y="33274"/>
                  </a:moveTo>
                  <a:lnTo>
                    <a:pt x="409441" y="33446"/>
                  </a:lnTo>
                  <a:lnTo>
                    <a:pt x="409496" y="37083"/>
                  </a:lnTo>
                  <a:lnTo>
                    <a:pt x="409582" y="42847"/>
                  </a:lnTo>
                  <a:lnTo>
                    <a:pt x="422275" y="42671"/>
                  </a:lnTo>
                  <a:lnTo>
                    <a:pt x="422148" y="33274"/>
                  </a:lnTo>
                  <a:close/>
                </a:path>
                <a:path w="485775" h="76200">
                  <a:moveTo>
                    <a:pt x="408939" y="0"/>
                  </a:moveTo>
                  <a:lnTo>
                    <a:pt x="409439" y="33274"/>
                  </a:lnTo>
                  <a:lnTo>
                    <a:pt x="409441" y="33446"/>
                  </a:lnTo>
                  <a:lnTo>
                    <a:pt x="422148" y="33274"/>
                  </a:lnTo>
                  <a:lnTo>
                    <a:pt x="477767" y="33274"/>
                  </a:lnTo>
                  <a:lnTo>
                    <a:pt x="408939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99964" y="1678939"/>
              <a:ext cx="160337" cy="20320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733165" y="11292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Times New Roman"/>
              <a:cs typeface="Times New Roman"/>
            </a:endParaRPr>
          </a:p>
          <a:p>
            <a:pPr marL="133350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(O)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301491" y="2402967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73" y="0"/>
                </a:moveTo>
                <a:lnTo>
                  <a:pt x="355473" y="76200"/>
                </a:lnTo>
                <a:lnTo>
                  <a:pt x="422021" y="42925"/>
                </a:lnTo>
                <a:lnTo>
                  <a:pt x="368173" y="42925"/>
                </a:lnTo>
                <a:lnTo>
                  <a:pt x="368173" y="33400"/>
                </a:lnTo>
                <a:lnTo>
                  <a:pt x="422275" y="33400"/>
                </a:lnTo>
                <a:lnTo>
                  <a:pt x="355473" y="0"/>
                </a:lnTo>
                <a:close/>
              </a:path>
              <a:path w="431800" h="76200">
                <a:moveTo>
                  <a:pt x="355473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73" y="42925"/>
                </a:lnTo>
                <a:lnTo>
                  <a:pt x="355473" y="33400"/>
                </a:lnTo>
                <a:close/>
              </a:path>
              <a:path w="431800" h="76200">
                <a:moveTo>
                  <a:pt x="422275" y="33400"/>
                </a:moveTo>
                <a:lnTo>
                  <a:pt x="368173" y="33400"/>
                </a:lnTo>
                <a:lnTo>
                  <a:pt x="368173" y="42925"/>
                </a:lnTo>
                <a:lnTo>
                  <a:pt x="422021" y="42925"/>
                </a:lnTo>
                <a:lnTo>
                  <a:pt x="431673" y="38100"/>
                </a:lnTo>
                <a:lnTo>
                  <a:pt x="422275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301491" y="2114804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73" y="0"/>
                </a:moveTo>
                <a:lnTo>
                  <a:pt x="355473" y="76200"/>
                </a:lnTo>
                <a:lnTo>
                  <a:pt x="422021" y="42925"/>
                </a:lnTo>
                <a:lnTo>
                  <a:pt x="368173" y="42925"/>
                </a:lnTo>
                <a:lnTo>
                  <a:pt x="368173" y="33400"/>
                </a:lnTo>
                <a:lnTo>
                  <a:pt x="422275" y="33400"/>
                </a:lnTo>
                <a:lnTo>
                  <a:pt x="355473" y="0"/>
                </a:lnTo>
                <a:close/>
              </a:path>
              <a:path w="431800" h="76200">
                <a:moveTo>
                  <a:pt x="355473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73" y="42925"/>
                </a:lnTo>
                <a:lnTo>
                  <a:pt x="355473" y="33400"/>
                </a:lnTo>
                <a:close/>
              </a:path>
              <a:path w="431800" h="76200">
                <a:moveTo>
                  <a:pt x="422275" y="33400"/>
                </a:moveTo>
                <a:lnTo>
                  <a:pt x="368173" y="33400"/>
                </a:lnTo>
                <a:lnTo>
                  <a:pt x="368173" y="42925"/>
                </a:lnTo>
                <a:lnTo>
                  <a:pt x="422021" y="42925"/>
                </a:lnTo>
                <a:lnTo>
                  <a:pt x="431673" y="38100"/>
                </a:lnTo>
                <a:lnTo>
                  <a:pt x="422275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01491" y="1723898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73" y="0"/>
                </a:moveTo>
                <a:lnTo>
                  <a:pt x="355473" y="76200"/>
                </a:lnTo>
                <a:lnTo>
                  <a:pt x="422275" y="42799"/>
                </a:lnTo>
                <a:lnTo>
                  <a:pt x="368173" y="42799"/>
                </a:lnTo>
                <a:lnTo>
                  <a:pt x="368173" y="33274"/>
                </a:lnTo>
                <a:lnTo>
                  <a:pt x="422021" y="33274"/>
                </a:lnTo>
                <a:lnTo>
                  <a:pt x="355473" y="0"/>
                </a:lnTo>
                <a:close/>
              </a:path>
              <a:path w="431800" h="76200">
                <a:moveTo>
                  <a:pt x="355473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55473" y="42799"/>
                </a:lnTo>
                <a:lnTo>
                  <a:pt x="355473" y="33274"/>
                </a:lnTo>
                <a:close/>
              </a:path>
              <a:path w="431800" h="76200">
                <a:moveTo>
                  <a:pt x="422021" y="33274"/>
                </a:moveTo>
                <a:lnTo>
                  <a:pt x="368173" y="33274"/>
                </a:lnTo>
                <a:lnTo>
                  <a:pt x="368173" y="42799"/>
                </a:lnTo>
                <a:lnTo>
                  <a:pt x="422275" y="42799"/>
                </a:lnTo>
                <a:lnTo>
                  <a:pt x="431673" y="38100"/>
                </a:lnTo>
                <a:lnTo>
                  <a:pt x="422021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301491" y="136271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73" y="0"/>
                </a:moveTo>
                <a:lnTo>
                  <a:pt x="355473" y="76200"/>
                </a:lnTo>
                <a:lnTo>
                  <a:pt x="422021" y="42925"/>
                </a:lnTo>
                <a:lnTo>
                  <a:pt x="368173" y="42925"/>
                </a:lnTo>
                <a:lnTo>
                  <a:pt x="368173" y="33400"/>
                </a:lnTo>
                <a:lnTo>
                  <a:pt x="422275" y="33400"/>
                </a:lnTo>
                <a:lnTo>
                  <a:pt x="355473" y="0"/>
                </a:lnTo>
                <a:close/>
              </a:path>
              <a:path w="431800" h="76200">
                <a:moveTo>
                  <a:pt x="355473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73" y="42925"/>
                </a:lnTo>
                <a:lnTo>
                  <a:pt x="355473" y="33400"/>
                </a:lnTo>
                <a:close/>
              </a:path>
              <a:path w="431800" h="76200">
                <a:moveTo>
                  <a:pt x="422275" y="33400"/>
                </a:moveTo>
                <a:lnTo>
                  <a:pt x="368173" y="33400"/>
                </a:lnTo>
                <a:lnTo>
                  <a:pt x="368173" y="42925"/>
                </a:lnTo>
                <a:lnTo>
                  <a:pt x="422021" y="42925"/>
                </a:lnTo>
                <a:lnTo>
                  <a:pt x="431673" y="38100"/>
                </a:lnTo>
                <a:lnTo>
                  <a:pt x="422275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580001" y="11292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400" spc="-50" dirty="0">
                <a:solidFill>
                  <a:srgbClr val="1F1F1F"/>
                </a:solidFill>
                <a:latin typeface="Microsoft Sans Serif"/>
                <a:cs typeface="Microsoft Sans Serif"/>
              </a:rPr>
              <a:t>σ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293234" y="18961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29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2079" y="3503167"/>
            <a:ext cx="4540250" cy="117475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99964" y="827951"/>
            <a:ext cx="2110359" cy="49259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8" cstate="print"/>
          <a:srcRect l="11000"/>
          <a:stretch>
            <a:fillRect/>
          </a:stretch>
        </p:blipFill>
        <p:spPr>
          <a:xfrm>
            <a:off x="6863843" y="2219706"/>
            <a:ext cx="2097278" cy="1504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C56425FC-198A-FB50-3FF1-868E26C68C97}"/>
                  </a:ext>
                </a:extLst>
              </p:cNvPr>
              <p:cNvSpPr txBox="1"/>
              <p:nvPr/>
            </p:nvSpPr>
            <p:spPr>
              <a:xfrm>
                <a:off x="6348475" y="2180082"/>
                <a:ext cx="59234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=−(</m:t>
                      </m:r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C56425FC-198A-FB50-3FF1-868E26C68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475" y="2180082"/>
                <a:ext cx="592342" cy="215444"/>
              </a:xfrm>
              <a:prstGeom prst="rect">
                <a:avLst/>
              </a:prstGeom>
              <a:blipFill>
                <a:blip r:embed="rId9"/>
                <a:stretch>
                  <a:fillRect l="-6122" r="-9184" b="-3428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983C006D-E4E8-4A02-BC74-D850D9902A6D}"/>
                  </a:ext>
                </a:extLst>
              </p:cNvPr>
              <p:cNvSpPr txBox="1"/>
              <p:nvPr/>
            </p:nvSpPr>
            <p:spPr>
              <a:xfrm>
                <a:off x="8944380" y="2158566"/>
                <a:ext cx="12343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PE" sz="1400" dirty="0"/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983C006D-E4E8-4A02-BC74-D850D9902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4380" y="2158566"/>
                <a:ext cx="123431" cy="215444"/>
              </a:xfrm>
              <a:prstGeom prst="rect">
                <a:avLst/>
              </a:prstGeom>
              <a:blipFill>
                <a:blip r:embed="rId10"/>
                <a:stretch>
                  <a:fillRect l="-42857" r="-42857" b="-3714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Funciones</a:t>
            </a:r>
            <a:r>
              <a:rPr spc="-1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salida</a:t>
            </a:r>
            <a:r>
              <a:rPr spc="-50" dirty="0"/>
              <a:t> </a:t>
            </a:r>
            <a:r>
              <a:rPr dirty="0"/>
              <a:t>+</a:t>
            </a:r>
            <a:r>
              <a:rPr spc="-55" dirty="0"/>
              <a:t> </a:t>
            </a:r>
            <a:r>
              <a:rPr dirty="0"/>
              <a:t>Loss</a:t>
            </a:r>
            <a:r>
              <a:rPr spc="-65" dirty="0"/>
              <a:t> </a:t>
            </a:r>
            <a:r>
              <a:rPr spc="-10" dirty="0"/>
              <a:t>function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4901" y="691642"/>
            <a:ext cx="2538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900" algn="l"/>
              </a:tabLst>
            </a:pPr>
            <a:r>
              <a:rPr sz="1600" spc="-350" dirty="0">
                <a:latin typeface="Roboto"/>
                <a:cs typeface="Roboto"/>
              </a:rPr>
              <a:t>-</a:t>
            </a:r>
            <a:r>
              <a:rPr sz="1600" dirty="0">
                <a:latin typeface="Roboto"/>
                <a:cs typeface="Roboto"/>
              </a:rPr>
              <a:t>	</a:t>
            </a:r>
            <a:r>
              <a:rPr sz="1600" b="1" dirty="0">
                <a:latin typeface="Roboto"/>
                <a:cs typeface="Roboto"/>
              </a:rPr>
              <a:t>Clasificación </a:t>
            </a:r>
            <a:r>
              <a:rPr sz="1600" b="1" spc="-10" dirty="0">
                <a:latin typeface="Roboto"/>
                <a:cs typeface="Roboto"/>
              </a:rPr>
              <a:t>multiclase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7510" y="3764076"/>
            <a:ext cx="19183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c</a:t>
            </a:r>
            <a:r>
              <a:rPr sz="1500" spc="-2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DB4437"/>
                </a:solidFill>
                <a:latin typeface="Roboto"/>
                <a:cs typeface="Roboto"/>
              </a:rPr>
              <a:t>salidas</a:t>
            </a:r>
            <a:r>
              <a:rPr sz="1500" spc="-2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=</a:t>
            </a:r>
            <a:r>
              <a:rPr sz="1500" spc="-1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DB4437"/>
                </a:solidFill>
                <a:latin typeface="Roboto"/>
                <a:cs typeface="Roboto"/>
              </a:rPr>
              <a:t>c</a:t>
            </a:r>
            <a:r>
              <a:rPr sz="1500" spc="-1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DB4437"/>
                </a:solidFill>
                <a:latin typeface="Roboto"/>
                <a:cs typeface="Roboto"/>
              </a:rPr>
              <a:t>neuronas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51732" y="3177920"/>
            <a:ext cx="76200" cy="439420"/>
          </a:xfrm>
          <a:custGeom>
            <a:avLst/>
            <a:gdLst/>
            <a:ahLst/>
            <a:cxnLst/>
            <a:rect l="l" t="t" r="r" b="b"/>
            <a:pathLst>
              <a:path w="76200" h="439420">
                <a:moveTo>
                  <a:pt x="0" y="361442"/>
                </a:moveTo>
                <a:lnTo>
                  <a:pt x="34670" y="439293"/>
                </a:lnTo>
                <a:lnTo>
                  <a:pt x="69821" y="376301"/>
                </a:lnTo>
                <a:lnTo>
                  <a:pt x="46989" y="376301"/>
                </a:lnTo>
                <a:lnTo>
                  <a:pt x="28066" y="375412"/>
                </a:lnTo>
                <a:lnTo>
                  <a:pt x="28541" y="364871"/>
                </a:lnTo>
                <a:lnTo>
                  <a:pt x="28637" y="362730"/>
                </a:lnTo>
                <a:lnTo>
                  <a:pt x="0" y="361442"/>
                </a:lnTo>
                <a:close/>
              </a:path>
              <a:path w="76200" h="439420">
                <a:moveTo>
                  <a:pt x="28637" y="362730"/>
                </a:moveTo>
                <a:lnTo>
                  <a:pt x="28066" y="375412"/>
                </a:lnTo>
                <a:lnTo>
                  <a:pt x="46989" y="376301"/>
                </a:lnTo>
                <a:lnTo>
                  <a:pt x="47508" y="364871"/>
                </a:lnTo>
                <a:lnTo>
                  <a:pt x="47566" y="363582"/>
                </a:lnTo>
                <a:lnTo>
                  <a:pt x="28637" y="362730"/>
                </a:lnTo>
                <a:close/>
              </a:path>
              <a:path w="76200" h="439420">
                <a:moveTo>
                  <a:pt x="47566" y="363582"/>
                </a:moveTo>
                <a:lnTo>
                  <a:pt x="47030" y="375412"/>
                </a:lnTo>
                <a:lnTo>
                  <a:pt x="46989" y="376301"/>
                </a:lnTo>
                <a:lnTo>
                  <a:pt x="69821" y="376301"/>
                </a:lnTo>
                <a:lnTo>
                  <a:pt x="76200" y="364871"/>
                </a:lnTo>
                <a:lnTo>
                  <a:pt x="47566" y="363582"/>
                </a:lnTo>
                <a:close/>
              </a:path>
              <a:path w="76200" h="439420">
                <a:moveTo>
                  <a:pt x="44957" y="0"/>
                </a:moveTo>
                <a:lnTo>
                  <a:pt x="28695" y="361442"/>
                </a:lnTo>
                <a:lnTo>
                  <a:pt x="28637" y="362730"/>
                </a:lnTo>
                <a:lnTo>
                  <a:pt x="47566" y="363582"/>
                </a:lnTo>
                <a:lnTo>
                  <a:pt x="64007" y="889"/>
                </a:lnTo>
                <a:lnTo>
                  <a:pt x="44957" y="0"/>
                </a:lnTo>
                <a:close/>
              </a:path>
            </a:pathLst>
          </a:custGeom>
          <a:solidFill>
            <a:srgbClr val="DB4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96285" y="2304034"/>
            <a:ext cx="4019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Roboto"/>
                <a:cs typeface="Roboto"/>
              </a:rPr>
              <a:t>(...)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879" y="1732914"/>
            <a:ext cx="361315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69850">
              <a:lnSpc>
                <a:spcPct val="150000"/>
              </a:lnSpc>
              <a:spcBef>
                <a:spcPts val="100"/>
              </a:spcBef>
            </a:pPr>
            <a:r>
              <a:rPr sz="2250" spc="-37" baseline="12962" dirty="0">
                <a:latin typeface="Roboto"/>
                <a:cs typeface="Roboto"/>
              </a:rPr>
              <a:t>X</a:t>
            </a:r>
            <a:r>
              <a:rPr sz="1000" spc="-25" dirty="0">
                <a:latin typeface="Roboto"/>
                <a:cs typeface="Roboto"/>
              </a:rPr>
              <a:t>i,1 </a:t>
            </a:r>
            <a:r>
              <a:rPr sz="2250" spc="-37" baseline="12962" dirty="0">
                <a:latin typeface="Roboto"/>
                <a:cs typeface="Roboto"/>
              </a:rPr>
              <a:t>X</a:t>
            </a:r>
            <a:r>
              <a:rPr sz="1000" spc="-25" dirty="0">
                <a:latin typeface="Roboto"/>
                <a:cs typeface="Roboto"/>
              </a:rPr>
              <a:t>i,2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25"/>
              </a:spcBef>
            </a:pPr>
            <a:r>
              <a:rPr sz="1000" spc="-50" dirty="0">
                <a:latin typeface="Roboto"/>
                <a:cs typeface="Roboto"/>
              </a:rPr>
              <a:t>…</a:t>
            </a:r>
            <a:endParaRPr sz="10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sz="2250" spc="-30" baseline="12962" dirty="0">
                <a:latin typeface="Roboto"/>
                <a:cs typeface="Roboto"/>
              </a:rPr>
              <a:t>X</a:t>
            </a:r>
            <a:r>
              <a:rPr sz="1000" spc="-20" dirty="0">
                <a:latin typeface="Roboto"/>
                <a:cs typeface="Roboto"/>
              </a:rPr>
              <a:t>i,m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3803" y="15864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9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0601" y="15864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900">
              <a:latin typeface="Times New Roman"/>
              <a:cs typeface="Times New Roman"/>
            </a:endParaRPr>
          </a:p>
          <a:p>
            <a:pPr marL="140970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(1)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2091" y="2860167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2091" y="2572004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2091" y="2181098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300" y="42799"/>
                </a:lnTo>
                <a:lnTo>
                  <a:pt x="368198" y="42799"/>
                </a:lnTo>
                <a:lnTo>
                  <a:pt x="368198" y="33274"/>
                </a:lnTo>
                <a:lnTo>
                  <a:pt x="422046" y="33274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55498" y="42799"/>
                </a:lnTo>
                <a:lnTo>
                  <a:pt x="355498" y="33274"/>
                </a:lnTo>
                <a:close/>
              </a:path>
              <a:path w="431800" h="76200">
                <a:moveTo>
                  <a:pt x="422046" y="33274"/>
                </a:moveTo>
                <a:lnTo>
                  <a:pt x="368198" y="33274"/>
                </a:lnTo>
                <a:lnTo>
                  <a:pt x="368198" y="42799"/>
                </a:lnTo>
                <a:lnTo>
                  <a:pt x="422300" y="42799"/>
                </a:lnTo>
                <a:lnTo>
                  <a:pt x="431698" y="38100"/>
                </a:lnTo>
                <a:lnTo>
                  <a:pt x="422046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2091" y="181991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98" y="0"/>
                </a:moveTo>
                <a:lnTo>
                  <a:pt x="355498" y="76200"/>
                </a:lnTo>
                <a:lnTo>
                  <a:pt x="422046" y="42925"/>
                </a:lnTo>
                <a:lnTo>
                  <a:pt x="368198" y="42925"/>
                </a:lnTo>
                <a:lnTo>
                  <a:pt x="368198" y="33400"/>
                </a:lnTo>
                <a:lnTo>
                  <a:pt x="422300" y="33400"/>
                </a:lnTo>
                <a:lnTo>
                  <a:pt x="355498" y="0"/>
                </a:lnTo>
                <a:close/>
              </a:path>
              <a:path w="431800" h="76200">
                <a:moveTo>
                  <a:pt x="355498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98" y="42925"/>
                </a:lnTo>
                <a:lnTo>
                  <a:pt x="355498" y="33400"/>
                </a:lnTo>
                <a:close/>
              </a:path>
              <a:path w="431800" h="76200">
                <a:moveTo>
                  <a:pt x="422300" y="33400"/>
                </a:moveTo>
                <a:lnTo>
                  <a:pt x="368198" y="33400"/>
                </a:lnTo>
                <a:lnTo>
                  <a:pt x="368198" y="42925"/>
                </a:lnTo>
                <a:lnTo>
                  <a:pt x="422046" y="42925"/>
                </a:lnTo>
                <a:lnTo>
                  <a:pt x="431698" y="38100"/>
                </a:lnTo>
                <a:lnTo>
                  <a:pt x="422300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73835" y="28601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73835" y="25720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73835" y="2181098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8" y="33274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30" h="76200">
                <a:moveTo>
                  <a:pt x="268478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8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73835" y="18199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8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8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12035" y="28601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12035" y="25720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12035" y="2181098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7" y="33274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30" h="76200">
                <a:moveTo>
                  <a:pt x="268477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7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12035" y="18199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30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30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30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614289" y="1581658"/>
            <a:ext cx="89789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spc="-25" dirty="0">
                <a:solidFill>
                  <a:srgbClr val="1F1F1F"/>
                </a:solidFill>
                <a:latin typeface="Arial MT"/>
                <a:cs typeface="Arial MT"/>
              </a:rPr>
              <a:t>CE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82970" y="3193669"/>
            <a:ext cx="160655" cy="616585"/>
            <a:chOff x="5982970" y="3193669"/>
            <a:chExt cx="160655" cy="616585"/>
          </a:xfrm>
        </p:grpSpPr>
        <p:sp>
          <p:nvSpPr>
            <p:cNvPr id="25" name="object 25"/>
            <p:cNvSpPr/>
            <p:nvPr/>
          </p:nvSpPr>
          <p:spPr>
            <a:xfrm>
              <a:off x="6025007" y="3193669"/>
              <a:ext cx="76200" cy="423545"/>
            </a:xfrm>
            <a:custGeom>
              <a:avLst/>
              <a:gdLst/>
              <a:ahLst/>
              <a:cxnLst/>
              <a:rect l="l" t="t" r="r" b="b"/>
              <a:pathLst>
                <a:path w="76200" h="423545">
                  <a:moveTo>
                    <a:pt x="42925" y="63500"/>
                  </a:moveTo>
                  <a:lnTo>
                    <a:pt x="33400" y="63500"/>
                  </a:lnTo>
                  <a:lnTo>
                    <a:pt x="33400" y="423544"/>
                  </a:lnTo>
                  <a:lnTo>
                    <a:pt x="42925" y="423544"/>
                  </a:lnTo>
                  <a:lnTo>
                    <a:pt x="42925" y="63500"/>
                  </a:lnTo>
                  <a:close/>
                </a:path>
                <a:path w="76200" h="423545">
                  <a:moveTo>
                    <a:pt x="38100" y="0"/>
                  </a:moveTo>
                  <a:lnTo>
                    <a:pt x="0" y="76200"/>
                  </a:lnTo>
                  <a:lnTo>
                    <a:pt x="33400" y="76200"/>
                  </a:lnTo>
                  <a:lnTo>
                    <a:pt x="33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23545">
                  <a:moveTo>
                    <a:pt x="69850" y="63500"/>
                  </a:moveTo>
                  <a:lnTo>
                    <a:pt x="42925" y="63500"/>
                  </a:lnTo>
                  <a:lnTo>
                    <a:pt x="429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2970" y="3659187"/>
              <a:ext cx="160337" cy="150812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6511925" y="2360548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77504" y="33146"/>
                </a:moveTo>
                <a:lnTo>
                  <a:pt x="422148" y="33146"/>
                </a:lnTo>
                <a:lnTo>
                  <a:pt x="422275" y="42671"/>
                </a:lnTo>
                <a:lnTo>
                  <a:pt x="409582" y="42847"/>
                </a:lnTo>
                <a:lnTo>
                  <a:pt x="410082" y="76200"/>
                </a:lnTo>
                <a:lnTo>
                  <a:pt x="485648" y="37083"/>
                </a:lnTo>
                <a:lnTo>
                  <a:pt x="477504" y="33146"/>
                </a:lnTo>
                <a:close/>
              </a:path>
              <a:path w="485775" h="76200">
                <a:moveTo>
                  <a:pt x="409439" y="33322"/>
                </a:moveTo>
                <a:lnTo>
                  <a:pt x="0" y="38988"/>
                </a:lnTo>
                <a:lnTo>
                  <a:pt x="126" y="48513"/>
                </a:lnTo>
                <a:lnTo>
                  <a:pt x="409582" y="42847"/>
                </a:lnTo>
                <a:lnTo>
                  <a:pt x="409496" y="37083"/>
                </a:lnTo>
                <a:lnTo>
                  <a:pt x="409439" y="33322"/>
                </a:lnTo>
                <a:close/>
              </a:path>
              <a:path w="485775" h="76200">
                <a:moveTo>
                  <a:pt x="422148" y="33146"/>
                </a:moveTo>
                <a:lnTo>
                  <a:pt x="409439" y="33322"/>
                </a:lnTo>
                <a:lnTo>
                  <a:pt x="409496" y="37083"/>
                </a:lnTo>
                <a:lnTo>
                  <a:pt x="409582" y="42847"/>
                </a:lnTo>
                <a:lnTo>
                  <a:pt x="422275" y="42671"/>
                </a:lnTo>
                <a:lnTo>
                  <a:pt x="422148" y="33146"/>
                </a:lnTo>
                <a:close/>
              </a:path>
              <a:path w="485775" h="76200">
                <a:moveTo>
                  <a:pt x="408940" y="0"/>
                </a:moveTo>
                <a:lnTo>
                  <a:pt x="409437" y="33146"/>
                </a:lnTo>
                <a:lnTo>
                  <a:pt x="409439" y="33322"/>
                </a:lnTo>
                <a:lnTo>
                  <a:pt x="422148" y="33146"/>
                </a:lnTo>
                <a:lnTo>
                  <a:pt x="477504" y="33146"/>
                </a:lnTo>
                <a:lnTo>
                  <a:pt x="408940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1050" y="2249868"/>
            <a:ext cx="1004887" cy="325437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5137277" y="1835530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77767" y="33274"/>
                </a:moveTo>
                <a:lnTo>
                  <a:pt x="422148" y="33274"/>
                </a:lnTo>
                <a:lnTo>
                  <a:pt x="422275" y="42799"/>
                </a:lnTo>
                <a:lnTo>
                  <a:pt x="409584" y="42970"/>
                </a:lnTo>
                <a:lnTo>
                  <a:pt x="410083" y="76200"/>
                </a:lnTo>
                <a:lnTo>
                  <a:pt x="485648" y="37084"/>
                </a:lnTo>
                <a:lnTo>
                  <a:pt x="477767" y="33274"/>
                </a:lnTo>
                <a:close/>
              </a:path>
              <a:path w="485775" h="76200">
                <a:moveTo>
                  <a:pt x="409441" y="33446"/>
                </a:moveTo>
                <a:lnTo>
                  <a:pt x="0" y="38989"/>
                </a:lnTo>
                <a:lnTo>
                  <a:pt x="126" y="48514"/>
                </a:lnTo>
                <a:lnTo>
                  <a:pt x="409584" y="42970"/>
                </a:lnTo>
                <a:lnTo>
                  <a:pt x="409496" y="37084"/>
                </a:lnTo>
                <a:lnTo>
                  <a:pt x="409441" y="33446"/>
                </a:lnTo>
                <a:close/>
              </a:path>
              <a:path w="485775" h="76200">
                <a:moveTo>
                  <a:pt x="422148" y="33274"/>
                </a:moveTo>
                <a:lnTo>
                  <a:pt x="409441" y="33446"/>
                </a:lnTo>
                <a:lnTo>
                  <a:pt x="409496" y="37084"/>
                </a:lnTo>
                <a:lnTo>
                  <a:pt x="409584" y="42970"/>
                </a:lnTo>
                <a:lnTo>
                  <a:pt x="422275" y="42799"/>
                </a:lnTo>
                <a:lnTo>
                  <a:pt x="422148" y="33274"/>
                </a:lnTo>
                <a:close/>
              </a:path>
              <a:path w="485775" h="76200">
                <a:moveTo>
                  <a:pt x="408939" y="0"/>
                </a:moveTo>
                <a:lnTo>
                  <a:pt x="409439" y="33274"/>
                </a:lnTo>
                <a:lnTo>
                  <a:pt x="409441" y="33446"/>
                </a:lnTo>
                <a:lnTo>
                  <a:pt x="422148" y="33274"/>
                </a:lnTo>
                <a:lnTo>
                  <a:pt x="477767" y="33274"/>
                </a:lnTo>
                <a:lnTo>
                  <a:pt x="408939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5299964" y="621919"/>
            <a:ext cx="2612390" cy="1311275"/>
            <a:chOff x="5299964" y="621919"/>
            <a:chExt cx="2612390" cy="1311275"/>
          </a:xfrm>
        </p:grpSpPr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99964" y="1526540"/>
              <a:ext cx="160337" cy="2032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5976" y="621919"/>
              <a:ext cx="1246187" cy="131127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379212" y="1254633"/>
              <a:ext cx="1287145" cy="276860"/>
            </a:xfrm>
            <a:custGeom>
              <a:avLst/>
              <a:gdLst/>
              <a:ahLst/>
              <a:cxnLst/>
              <a:rect l="l" t="t" r="r" b="b"/>
              <a:pathLst>
                <a:path w="1287145" h="276859">
                  <a:moveTo>
                    <a:pt x="1211039" y="32642"/>
                  </a:moveTo>
                  <a:lnTo>
                    <a:pt x="0" y="267207"/>
                  </a:lnTo>
                  <a:lnTo>
                    <a:pt x="1777" y="276605"/>
                  </a:lnTo>
                  <a:lnTo>
                    <a:pt x="1212857" y="42033"/>
                  </a:lnTo>
                  <a:lnTo>
                    <a:pt x="1211039" y="32642"/>
                  </a:lnTo>
                  <a:close/>
                </a:path>
                <a:path w="1287145" h="276859">
                  <a:moveTo>
                    <a:pt x="1277182" y="30225"/>
                  </a:moveTo>
                  <a:lnTo>
                    <a:pt x="1223517" y="30225"/>
                  </a:lnTo>
                  <a:lnTo>
                    <a:pt x="1225295" y="39624"/>
                  </a:lnTo>
                  <a:lnTo>
                    <a:pt x="1212857" y="42033"/>
                  </a:lnTo>
                  <a:lnTo>
                    <a:pt x="1219199" y="74802"/>
                  </a:lnTo>
                  <a:lnTo>
                    <a:pt x="1277182" y="30225"/>
                  </a:lnTo>
                  <a:close/>
                </a:path>
                <a:path w="1287145" h="276859">
                  <a:moveTo>
                    <a:pt x="1223517" y="30225"/>
                  </a:moveTo>
                  <a:lnTo>
                    <a:pt x="1211039" y="32642"/>
                  </a:lnTo>
                  <a:lnTo>
                    <a:pt x="1212857" y="42033"/>
                  </a:lnTo>
                  <a:lnTo>
                    <a:pt x="1225295" y="39624"/>
                  </a:lnTo>
                  <a:lnTo>
                    <a:pt x="1223517" y="30225"/>
                  </a:lnTo>
                  <a:close/>
                </a:path>
                <a:path w="1287145" h="276859">
                  <a:moveTo>
                    <a:pt x="1204721" y="0"/>
                  </a:moveTo>
                  <a:lnTo>
                    <a:pt x="1211039" y="32642"/>
                  </a:lnTo>
                  <a:lnTo>
                    <a:pt x="1223517" y="30225"/>
                  </a:lnTo>
                  <a:lnTo>
                    <a:pt x="1277182" y="30225"/>
                  </a:lnTo>
                  <a:lnTo>
                    <a:pt x="1286764" y="22859"/>
                  </a:lnTo>
                  <a:lnTo>
                    <a:pt x="1204721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733165" y="1586483"/>
            <a:ext cx="546100" cy="1591945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900">
              <a:latin typeface="Times New Roman"/>
              <a:cs typeface="Times New Roman"/>
            </a:endParaRPr>
          </a:p>
          <a:p>
            <a:pPr marL="133350">
              <a:lnSpc>
                <a:spcPct val="100000"/>
              </a:lnSpc>
            </a:pPr>
            <a:r>
              <a:rPr sz="2100" spc="-30" baseline="-15873" dirty="0">
                <a:solidFill>
                  <a:srgbClr val="1F1F1F"/>
                </a:solidFill>
                <a:latin typeface="Arial MT"/>
                <a:cs typeface="Arial MT"/>
              </a:rPr>
              <a:t>Z</a:t>
            </a:r>
            <a:r>
              <a:rPr sz="900" spc="-20" dirty="0">
                <a:solidFill>
                  <a:srgbClr val="1F1F1F"/>
                </a:solidFill>
                <a:latin typeface="Arial MT"/>
                <a:cs typeface="Arial MT"/>
              </a:rPr>
              <a:t>(O)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301491" y="2860167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73" y="0"/>
                </a:moveTo>
                <a:lnTo>
                  <a:pt x="355473" y="76200"/>
                </a:lnTo>
                <a:lnTo>
                  <a:pt x="422021" y="42925"/>
                </a:lnTo>
                <a:lnTo>
                  <a:pt x="368173" y="42925"/>
                </a:lnTo>
                <a:lnTo>
                  <a:pt x="368173" y="33400"/>
                </a:lnTo>
                <a:lnTo>
                  <a:pt x="422275" y="33400"/>
                </a:lnTo>
                <a:lnTo>
                  <a:pt x="355473" y="0"/>
                </a:lnTo>
                <a:close/>
              </a:path>
              <a:path w="431800" h="76200">
                <a:moveTo>
                  <a:pt x="355473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73" y="42925"/>
                </a:lnTo>
                <a:lnTo>
                  <a:pt x="355473" y="33400"/>
                </a:lnTo>
                <a:close/>
              </a:path>
              <a:path w="431800" h="76200">
                <a:moveTo>
                  <a:pt x="422275" y="33400"/>
                </a:moveTo>
                <a:lnTo>
                  <a:pt x="368173" y="33400"/>
                </a:lnTo>
                <a:lnTo>
                  <a:pt x="368173" y="42925"/>
                </a:lnTo>
                <a:lnTo>
                  <a:pt x="422021" y="42925"/>
                </a:lnTo>
                <a:lnTo>
                  <a:pt x="431673" y="38100"/>
                </a:lnTo>
                <a:lnTo>
                  <a:pt x="422275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301491" y="2572004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73" y="0"/>
                </a:moveTo>
                <a:lnTo>
                  <a:pt x="355473" y="76200"/>
                </a:lnTo>
                <a:lnTo>
                  <a:pt x="422021" y="42925"/>
                </a:lnTo>
                <a:lnTo>
                  <a:pt x="368173" y="42925"/>
                </a:lnTo>
                <a:lnTo>
                  <a:pt x="368173" y="33400"/>
                </a:lnTo>
                <a:lnTo>
                  <a:pt x="422275" y="33400"/>
                </a:lnTo>
                <a:lnTo>
                  <a:pt x="355473" y="0"/>
                </a:lnTo>
                <a:close/>
              </a:path>
              <a:path w="431800" h="76200">
                <a:moveTo>
                  <a:pt x="355473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73" y="42925"/>
                </a:lnTo>
                <a:lnTo>
                  <a:pt x="355473" y="33400"/>
                </a:lnTo>
                <a:close/>
              </a:path>
              <a:path w="431800" h="76200">
                <a:moveTo>
                  <a:pt x="422275" y="33400"/>
                </a:moveTo>
                <a:lnTo>
                  <a:pt x="368173" y="33400"/>
                </a:lnTo>
                <a:lnTo>
                  <a:pt x="368173" y="42925"/>
                </a:lnTo>
                <a:lnTo>
                  <a:pt x="422021" y="42925"/>
                </a:lnTo>
                <a:lnTo>
                  <a:pt x="431673" y="38100"/>
                </a:lnTo>
                <a:lnTo>
                  <a:pt x="422275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301491" y="2181098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73" y="0"/>
                </a:moveTo>
                <a:lnTo>
                  <a:pt x="355473" y="76200"/>
                </a:lnTo>
                <a:lnTo>
                  <a:pt x="422275" y="42799"/>
                </a:lnTo>
                <a:lnTo>
                  <a:pt x="368173" y="42799"/>
                </a:lnTo>
                <a:lnTo>
                  <a:pt x="368173" y="33274"/>
                </a:lnTo>
                <a:lnTo>
                  <a:pt x="422021" y="33274"/>
                </a:lnTo>
                <a:lnTo>
                  <a:pt x="355473" y="0"/>
                </a:lnTo>
                <a:close/>
              </a:path>
              <a:path w="431800" h="76200">
                <a:moveTo>
                  <a:pt x="355473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55473" y="42799"/>
                </a:lnTo>
                <a:lnTo>
                  <a:pt x="355473" y="33274"/>
                </a:lnTo>
                <a:close/>
              </a:path>
              <a:path w="431800" h="76200">
                <a:moveTo>
                  <a:pt x="422021" y="33274"/>
                </a:moveTo>
                <a:lnTo>
                  <a:pt x="368173" y="33274"/>
                </a:lnTo>
                <a:lnTo>
                  <a:pt x="368173" y="42799"/>
                </a:lnTo>
                <a:lnTo>
                  <a:pt x="422275" y="42799"/>
                </a:lnTo>
                <a:lnTo>
                  <a:pt x="431673" y="38100"/>
                </a:lnTo>
                <a:lnTo>
                  <a:pt x="422021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301491" y="181991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55473" y="0"/>
                </a:moveTo>
                <a:lnTo>
                  <a:pt x="355473" y="76200"/>
                </a:lnTo>
                <a:lnTo>
                  <a:pt x="422021" y="42925"/>
                </a:lnTo>
                <a:lnTo>
                  <a:pt x="368173" y="42925"/>
                </a:lnTo>
                <a:lnTo>
                  <a:pt x="368173" y="33400"/>
                </a:lnTo>
                <a:lnTo>
                  <a:pt x="422275" y="33400"/>
                </a:lnTo>
                <a:lnTo>
                  <a:pt x="355473" y="0"/>
                </a:lnTo>
                <a:close/>
              </a:path>
              <a:path w="431800" h="76200">
                <a:moveTo>
                  <a:pt x="355473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55473" y="42925"/>
                </a:lnTo>
                <a:lnTo>
                  <a:pt x="355473" y="33400"/>
                </a:lnTo>
                <a:close/>
              </a:path>
              <a:path w="431800" h="76200">
                <a:moveTo>
                  <a:pt x="422275" y="33400"/>
                </a:moveTo>
                <a:lnTo>
                  <a:pt x="368173" y="33400"/>
                </a:lnTo>
                <a:lnTo>
                  <a:pt x="368173" y="42925"/>
                </a:lnTo>
                <a:lnTo>
                  <a:pt x="422021" y="42925"/>
                </a:lnTo>
                <a:lnTo>
                  <a:pt x="431673" y="38100"/>
                </a:lnTo>
                <a:lnTo>
                  <a:pt x="422275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590415" y="1569847"/>
            <a:ext cx="518159" cy="1598930"/>
          </a:xfrm>
          <a:prstGeom prst="rect">
            <a:avLst/>
          </a:prstGeom>
          <a:ln w="28575">
            <a:solidFill>
              <a:srgbClr val="1F1F1F"/>
            </a:solidFill>
          </a:ln>
        </p:spPr>
        <p:txBody>
          <a:bodyPr vert="vert" wrap="square" lIns="0" tIns="145415" rIns="0" bIns="0" rtlCol="0">
            <a:spAutoFit/>
          </a:bodyPr>
          <a:lstStyle/>
          <a:p>
            <a:pPr marL="473075">
              <a:lnSpc>
                <a:spcPct val="100000"/>
              </a:lnSpc>
              <a:spcBef>
                <a:spcPts val="1145"/>
              </a:spcBef>
            </a:pPr>
            <a:r>
              <a:rPr sz="1400" spc="-10" dirty="0">
                <a:solidFill>
                  <a:srgbClr val="1F1F1F"/>
                </a:solidFill>
                <a:latin typeface="Arial MT"/>
                <a:cs typeface="Arial MT"/>
              </a:rPr>
              <a:t>Softmax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293234" y="2860167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29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293234" y="2572004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29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293234" y="2181098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731" y="42799"/>
                </a:lnTo>
                <a:lnTo>
                  <a:pt x="214629" y="42799"/>
                </a:lnTo>
                <a:lnTo>
                  <a:pt x="214629" y="33274"/>
                </a:lnTo>
                <a:lnTo>
                  <a:pt x="268477" y="33274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201929" y="42799"/>
                </a:lnTo>
                <a:lnTo>
                  <a:pt x="201929" y="33274"/>
                </a:lnTo>
                <a:close/>
              </a:path>
              <a:path w="278129" h="76200">
                <a:moveTo>
                  <a:pt x="268477" y="33274"/>
                </a:moveTo>
                <a:lnTo>
                  <a:pt x="214629" y="33274"/>
                </a:lnTo>
                <a:lnTo>
                  <a:pt x="214629" y="42799"/>
                </a:lnTo>
                <a:lnTo>
                  <a:pt x="268731" y="42799"/>
                </a:lnTo>
                <a:lnTo>
                  <a:pt x="278129" y="38100"/>
                </a:lnTo>
                <a:lnTo>
                  <a:pt x="268477" y="33274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137277" y="2170176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77504" y="33147"/>
                </a:moveTo>
                <a:lnTo>
                  <a:pt x="422148" y="33147"/>
                </a:lnTo>
                <a:lnTo>
                  <a:pt x="422275" y="42672"/>
                </a:lnTo>
                <a:lnTo>
                  <a:pt x="409582" y="42843"/>
                </a:lnTo>
                <a:lnTo>
                  <a:pt x="410083" y="76200"/>
                </a:lnTo>
                <a:lnTo>
                  <a:pt x="485648" y="37084"/>
                </a:lnTo>
                <a:lnTo>
                  <a:pt x="477504" y="33147"/>
                </a:lnTo>
                <a:close/>
              </a:path>
              <a:path w="485775" h="76200">
                <a:moveTo>
                  <a:pt x="409439" y="33319"/>
                </a:moveTo>
                <a:lnTo>
                  <a:pt x="0" y="38862"/>
                </a:lnTo>
                <a:lnTo>
                  <a:pt x="126" y="48387"/>
                </a:lnTo>
                <a:lnTo>
                  <a:pt x="409582" y="42843"/>
                </a:lnTo>
                <a:lnTo>
                  <a:pt x="409496" y="37084"/>
                </a:lnTo>
                <a:lnTo>
                  <a:pt x="409439" y="33319"/>
                </a:lnTo>
                <a:close/>
              </a:path>
              <a:path w="485775" h="76200">
                <a:moveTo>
                  <a:pt x="422148" y="33147"/>
                </a:moveTo>
                <a:lnTo>
                  <a:pt x="409439" y="33319"/>
                </a:lnTo>
                <a:lnTo>
                  <a:pt x="409496" y="37084"/>
                </a:lnTo>
                <a:lnTo>
                  <a:pt x="409582" y="42843"/>
                </a:lnTo>
                <a:lnTo>
                  <a:pt x="422275" y="42672"/>
                </a:lnTo>
                <a:lnTo>
                  <a:pt x="422148" y="33147"/>
                </a:lnTo>
                <a:close/>
              </a:path>
              <a:path w="485775" h="76200">
                <a:moveTo>
                  <a:pt x="408939" y="0"/>
                </a:moveTo>
                <a:lnTo>
                  <a:pt x="409437" y="33147"/>
                </a:lnTo>
                <a:lnTo>
                  <a:pt x="409439" y="33319"/>
                </a:lnTo>
                <a:lnTo>
                  <a:pt x="422148" y="33147"/>
                </a:lnTo>
                <a:lnTo>
                  <a:pt x="477504" y="33147"/>
                </a:lnTo>
                <a:lnTo>
                  <a:pt x="408939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293234" y="1819910"/>
            <a:ext cx="278130" cy="76200"/>
          </a:xfrm>
          <a:custGeom>
            <a:avLst/>
            <a:gdLst/>
            <a:ahLst/>
            <a:cxnLst/>
            <a:rect l="l" t="t" r="r" b="b"/>
            <a:pathLst>
              <a:path w="278129" h="76200">
                <a:moveTo>
                  <a:pt x="201929" y="0"/>
                </a:moveTo>
                <a:lnTo>
                  <a:pt x="201929" y="76200"/>
                </a:lnTo>
                <a:lnTo>
                  <a:pt x="268477" y="42925"/>
                </a:lnTo>
                <a:lnTo>
                  <a:pt x="214629" y="42925"/>
                </a:lnTo>
                <a:lnTo>
                  <a:pt x="214629" y="33400"/>
                </a:lnTo>
                <a:lnTo>
                  <a:pt x="268731" y="33400"/>
                </a:lnTo>
                <a:lnTo>
                  <a:pt x="201929" y="0"/>
                </a:lnTo>
                <a:close/>
              </a:path>
              <a:path w="278129" h="76200">
                <a:moveTo>
                  <a:pt x="201929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201929" y="42925"/>
                </a:lnTo>
                <a:lnTo>
                  <a:pt x="201929" y="33400"/>
                </a:lnTo>
                <a:close/>
              </a:path>
              <a:path w="278129" h="76200">
                <a:moveTo>
                  <a:pt x="268731" y="33400"/>
                </a:moveTo>
                <a:lnTo>
                  <a:pt x="214629" y="33400"/>
                </a:lnTo>
                <a:lnTo>
                  <a:pt x="214629" y="42925"/>
                </a:lnTo>
                <a:lnTo>
                  <a:pt x="268477" y="42925"/>
                </a:lnTo>
                <a:lnTo>
                  <a:pt x="278129" y="38100"/>
                </a:lnTo>
                <a:lnTo>
                  <a:pt x="268731" y="3340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137277" y="2561082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77504" y="33147"/>
                </a:moveTo>
                <a:lnTo>
                  <a:pt x="422148" y="33147"/>
                </a:lnTo>
                <a:lnTo>
                  <a:pt x="422275" y="42672"/>
                </a:lnTo>
                <a:lnTo>
                  <a:pt x="409582" y="42843"/>
                </a:lnTo>
                <a:lnTo>
                  <a:pt x="410083" y="76200"/>
                </a:lnTo>
                <a:lnTo>
                  <a:pt x="485648" y="37084"/>
                </a:lnTo>
                <a:lnTo>
                  <a:pt x="477504" y="33147"/>
                </a:lnTo>
                <a:close/>
              </a:path>
              <a:path w="485775" h="76200">
                <a:moveTo>
                  <a:pt x="409439" y="33319"/>
                </a:moveTo>
                <a:lnTo>
                  <a:pt x="0" y="38862"/>
                </a:lnTo>
                <a:lnTo>
                  <a:pt x="126" y="48387"/>
                </a:lnTo>
                <a:lnTo>
                  <a:pt x="409582" y="42843"/>
                </a:lnTo>
                <a:lnTo>
                  <a:pt x="409496" y="37084"/>
                </a:lnTo>
                <a:lnTo>
                  <a:pt x="409439" y="33319"/>
                </a:lnTo>
                <a:close/>
              </a:path>
              <a:path w="485775" h="76200">
                <a:moveTo>
                  <a:pt x="422148" y="33147"/>
                </a:moveTo>
                <a:lnTo>
                  <a:pt x="409439" y="33319"/>
                </a:lnTo>
                <a:lnTo>
                  <a:pt x="409496" y="37084"/>
                </a:lnTo>
                <a:lnTo>
                  <a:pt x="409582" y="42843"/>
                </a:lnTo>
                <a:lnTo>
                  <a:pt x="422275" y="42672"/>
                </a:lnTo>
                <a:lnTo>
                  <a:pt x="422148" y="33147"/>
                </a:lnTo>
                <a:close/>
              </a:path>
              <a:path w="485775" h="76200">
                <a:moveTo>
                  <a:pt x="408939" y="0"/>
                </a:moveTo>
                <a:lnTo>
                  <a:pt x="409437" y="33147"/>
                </a:lnTo>
                <a:lnTo>
                  <a:pt x="409439" y="33319"/>
                </a:lnTo>
                <a:lnTo>
                  <a:pt x="422148" y="33147"/>
                </a:lnTo>
                <a:lnTo>
                  <a:pt x="477504" y="33147"/>
                </a:lnTo>
                <a:lnTo>
                  <a:pt x="408939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137277" y="2862707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77739" y="33147"/>
                </a:moveTo>
                <a:lnTo>
                  <a:pt x="422148" y="33147"/>
                </a:lnTo>
                <a:lnTo>
                  <a:pt x="422275" y="42672"/>
                </a:lnTo>
                <a:lnTo>
                  <a:pt x="409582" y="42843"/>
                </a:lnTo>
                <a:lnTo>
                  <a:pt x="410083" y="76200"/>
                </a:lnTo>
                <a:lnTo>
                  <a:pt x="485648" y="36956"/>
                </a:lnTo>
                <a:lnTo>
                  <a:pt x="477739" y="33147"/>
                </a:lnTo>
                <a:close/>
              </a:path>
              <a:path w="485775" h="76200">
                <a:moveTo>
                  <a:pt x="409439" y="33319"/>
                </a:moveTo>
                <a:lnTo>
                  <a:pt x="0" y="38862"/>
                </a:lnTo>
                <a:lnTo>
                  <a:pt x="126" y="48387"/>
                </a:lnTo>
                <a:lnTo>
                  <a:pt x="409582" y="42843"/>
                </a:lnTo>
                <a:lnTo>
                  <a:pt x="409494" y="36956"/>
                </a:lnTo>
                <a:lnTo>
                  <a:pt x="409439" y="33319"/>
                </a:lnTo>
                <a:close/>
              </a:path>
              <a:path w="485775" h="76200">
                <a:moveTo>
                  <a:pt x="422148" y="33147"/>
                </a:moveTo>
                <a:lnTo>
                  <a:pt x="409439" y="33319"/>
                </a:lnTo>
                <a:lnTo>
                  <a:pt x="409494" y="36956"/>
                </a:lnTo>
                <a:lnTo>
                  <a:pt x="409582" y="42843"/>
                </a:lnTo>
                <a:lnTo>
                  <a:pt x="422275" y="42672"/>
                </a:lnTo>
                <a:lnTo>
                  <a:pt x="422148" y="33147"/>
                </a:lnTo>
                <a:close/>
              </a:path>
              <a:path w="485775" h="76200">
                <a:moveTo>
                  <a:pt x="408939" y="0"/>
                </a:moveTo>
                <a:lnTo>
                  <a:pt x="409437" y="33147"/>
                </a:lnTo>
                <a:lnTo>
                  <a:pt x="409439" y="33319"/>
                </a:lnTo>
                <a:lnTo>
                  <a:pt x="422148" y="33147"/>
                </a:lnTo>
                <a:lnTo>
                  <a:pt x="477739" y="33147"/>
                </a:lnTo>
                <a:lnTo>
                  <a:pt x="408939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8076" y="3798150"/>
            <a:ext cx="6419850" cy="106203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08570" y="2724594"/>
            <a:ext cx="1498600" cy="4873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163" y="2125167"/>
            <a:ext cx="360235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30" dirty="0">
                <a:latin typeface="Roboto"/>
                <a:cs typeface="Roboto"/>
              </a:rPr>
              <a:t>Optimización</a:t>
            </a:r>
            <a:endParaRPr sz="4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Optimización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952" y="606170"/>
            <a:ext cx="3927475" cy="21963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69433" y="651128"/>
            <a:ext cx="23475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Roboto"/>
                <a:cs typeface="Roboto"/>
              </a:rPr>
              <a:t>Objetivo: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spc="-20" dirty="0">
                <a:latin typeface="Roboto"/>
                <a:cs typeface="Roboto"/>
              </a:rPr>
              <a:t>encontrar</a:t>
            </a:r>
            <a:r>
              <a:rPr sz="1400" spc="-3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el</a:t>
            </a:r>
            <a:r>
              <a:rPr sz="1400" spc="-2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mínimo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0519" y="1093190"/>
            <a:ext cx="1334135" cy="400685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670"/>
              </a:spcBef>
            </a:pPr>
            <a:r>
              <a:rPr sz="1400" spc="-10" dirty="0">
                <a:latin typeface="Roboto"/>
                <a:cs typeface="Roboto"/>
              </a:rPr>
              <a:t>Optimización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1847" y="2714371"/>
            <a:ext cx="96520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" indent="-92710">
              <a:lnSpc>
                <a:spcPct val="100000"/>
              </a:lnSpc>
              <a:spcBef>
                <a:spcPts val="100"/>
              </a:spcBef>
              <a:buChar char="-"/>
              <a:tabLst>
                <a:tab pos="105410" algn="l"/>
              </a:tabLst>
            </a:pPr>
            <a:r>
              <a:rPr sz="1400" spc="-25" dirty="0">
                <a:latin typeface="Roboto"/>
                <a:cs typeface="Roboto"/>
              </a:rPr>
              <a:t>GD</a:t>
            </a:r>
            <a:endParaRPr sz="1400">
              <a:latin typeface="Roboto"/>
              <a:cs typeface="Roboto"/>
            </a:endParaRPr>
          </a:p>
          <a:p>
            <a:pPr marL="105410" indent="-92710">
              <a:lnSpc>
                <a:spcPct val="100000"/>
              </a:lnSpc>
              <a:spcBef>
                <a:spcPts val="5"/>
              </a:spcBef>
              <a:buChar char="-"/>
              <a:tabLst>
                <a:tab pos="105410" algn="l"/>
              </a:tabLst>
            </a:pPr>
            <a:r>
              <a:rPr sz="1400" spc="-25" dirty="0">
                <a:latin typeface="Roboto"/>
                <a:cs typeface="Roboto"/>
              </a:rPr>
              <a:t>SGD</a:t>
            </a:r>
            <a:endParaRPr sz="1400">
              <a:latin typeface="Roboto"/>
              <a:cs typeface="Roboto"/>
            </a:endParaRPr>
          </a:p>
          <a:p>
            <a:pPr marL="105410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sz="1400" spc="-70" dirty="0">
                <a:latin typeface="Roboto"/>
                <a:cs typeface="Roboto"/>
              </a:rPr>
              <a:t>Mini-</a:t>
            </a:r>
            <a:r>
              <a:rPr sz="1400" spc="-10" dirty="0">
                <a:latin typeface="Roboto"/>
                <a:cs typeface="Roboto"/>
              </a:rPr>
              <a:t>Batch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2472" y="1812582"/>
            <a:ext cx="1334135" cy="83185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25"/>
              </a:spcBef>
            </a:pPr>
            <a:r>
              <a:rPr sz="1400" spc="-10" dirty="0">
                <a:latin typeface="Roboto"/>
                <a:cs typeface="Roboto"/>
              </a:rPr>
              <a:t>Basada</a:t>
            </a:r>
            <a:r>
              <a:rPr sz="1400" spc="-50" dirty="0">
                <a:latin typeface="Roboto"/>
                <a:cs typeface="Roboto"/>
              </a:rPr>
              <a:t> </a:t>
            </a:r>
            <a:r>
              <a:rPr sz="1400" spc="-25" dirty="0">
                <a:latin typeface="Roboto"/>
                <a:cs typeface="Roboto"/>
              </a:rPr>
              <a:t>en</a:t>
            </a:r>
            <a:endParaRPr sz="14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mbria Math"/>
                <a:cs typeface="Cambria Math"/>
              </a:rPr>
              <a:t>∇</a:t>
            </a:r>
            <a:r>
              <a:rPr sz="1350" spc="-15" baseline="-21604" dirty="0">
                <a:latin typeface="Roboto"/>
                <a:cs typeface="Roboto"/>
              </a:rPr>
              <a:t>W</a:t>
            </a:r>
            <a:r>
              <a:rPr sz="1400" spc="-10" dirty="0">
                <a:latin typeface="Roboto"/>
                <a:cs typeface="Roboto"/>
              </a:rPr>
              <a:t>(L)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59477" y="1488694"/>
            <a:ext cx="1638935" cy="346710"/>
          </a:xfrm>
          <a:custGeom>
            <a:avLst/>
            <a:gdLst/>
            <a:ahLst/>
            <a:cxnLst/>
            <a:rect l="l" t="t" r="r" b="b"/>
            <a:pathLst>
              <a:path w="1638934" h="346710">
                <a:moveTo>
                  <a:pt x="67437" y="271906"/>
                </a:moveTo>
                <a:lnTo>
                  <a:pt x="0" y="323976"/>
                </a:lnTo>
                <a:lnTo>
                  <a:pt x="82042" y="346709"/>
                </a:lnTo>
                <a:lnTo>
                  <a:pt x="76140" y="316483"/>
                </a:lnTo>
                <a:lnTo>
                  <a:pt x="63246" y="316483"/>
                </a:lnTo>
                <a:lnTo>
                  <a:pt x="61340" y="307085"/>
                </a:lnTo>
                <a:lnTo>
                  <a:pt x="73830" y="304651"/>
                </a:lnTo>
                <a:lnTo>
                  <a:pt x="67437" y="271906"/>
                </a:lnTo>
                <a:close/>
              </a:path>
              <a:path w="1638934" h="346710">
                <a:moveTo>
                  <a:pt x="73830" y="304651"/>
                </a:moveTo>
                <a:lnTo>
                  <a:pt x="61340" y="307085"/>
                </a:lnTo>
                <a:lnTo>
                  <a:pt x="63246" y="316483"/>
                </a:lnTo>
                <a:lnTo>
                  <a:pt x="75667" y="314062"/>
                </a:lnTo>
                <a:lnTo>
                  <a:pt x="73830" y="304651"/>
                </a:lnTo>
                <a:close/>
              </a:path>
              <a:path w="1638934" h="346710">
                <a:moveTo>
                  <a:pt x="75667" y="314062"/>
                </a:moveTo>
                <a:lnTo>
                  <a:pt x="63246" y="316483"/>
                </a:lnTo>
                <a:lnTo>
                  <a:pt x="76140" y="316483"/>
                </a:lnTo>
                <a:lnTo>
                  <a:pt x="75667" y="314062"/>
                </a:lnTo>
                <a:close/>
              </a:path>
              <a:path w="1638934" h="346710">
                <a:moveTo>
                  <a:pt x="1637029" y="0"/>
                </a:moveTo>
                <a:lnTo>
                  <a:pt x="73830" y="304651"/>
                </a:lnTo>
                <a:lnTo>
                  <a:pt x="75667" y="314062"/>
                </a:lnTo>
                <a:lnTo>
                  <a:pt x="1638807" y="9397"/>
                </a:lnTo>
                <a:lnTo>
                  <a:pt x="1637029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30519" y="1812582"/>
            <a:ext cx="1334135" cy="83185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163830" marR="154940" indent="86360">
              <a:lnSpc>
                <a:spcPct val="100000"/>
              </a:lnSpc>
              <a:spcBef>
                <a:spcPts val="685"/>
              </a:spcBef>
            </a:pPr>
            <a:r>
              <a:rPr sz="1400" spc="-10" dirty="0">
                <a:latin typeface="Roboto"/>
                <a:cs typeface="Roboto"/>
              </a:rPr>
              <a:t>Basada</a:t>
            </a:r>
            <a:r>
              <a:rPr sz="1400" spc="-35" dirty="0">
                <a:latin typeface="Roboto"/>
                <a:cs typeface="Roboto"/>
              </a:rPr>
              <a:t> en </a:t>
            </a:r>
            <a:r>
              <a:rPr sz="1400" spc="-10" dirty="0">
                <a:latin typeface="Roboto"/>
                <a:cs typeface="Roboto"/>
              </a:rPr>
              <a:t>derivadas</a:t>
            </a:r>
            <a:r>
              <a:rPr sz="1400" spc="-75" dirty="0">
                <a:latin typeface="Roboto"/>
                <a:cs typeface="Roboto"/>
              </a:rPr>
              <a:t> </a:t>
            </a:r>
            <a:r>
              <a:rPr sz="1400" spc="-25" dirty="0">
                <a:latin typeface="Roboto"/>
                <a:cs typeface="Roboto"/>
              </a:rPr>
              <a:t>de </a:t>
            </a:r>
            <a:r>
              <a:rPr sz="1400" spc="-10" dirty="0">
                <a:latin typeface="Roboto"/>
                <a:cs typeface="Roboto"/>
              </a:rPr>
              <a:t>mayor</a:t>
            </a:r>
            <a:r>
              <a:rPr sz="1400" spc="-5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orden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0147" y="2714371"/>
            <a:ext cx="73215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" indent="-92710">
              <a:lnSpc>
                <a:spcPct val="100000"/>
              </a:lnSpc>
              <a:spcBef>
                <a:spcPts val="100"/>
              </a:spcBef>
              <a:buChar char="-"/>
              <a:tabLst>
                <a:tab pos="105410" algn="l"/>
              </a:tabLst>
            </a:pPr>
            <a:r>
              <a:rPr sz="1400" spc="-10" dirty="0">
                <a:latin typeface="Roboto"/>
                <a:cs typeface="Roboto"/>
              </a:rPr>
              <a:t>Newton</a:t>
            </a:r>
            <a:endParaRPr sz="1400">
              <a:latin typeface="Roboto"/>
              <a:cs typeface="Roboto"/>
            </a:endParaRPr>
          </a:p>
          <a:p>
            <a:pPr marL="105410" indent="-92710">
              <a:lnSpc>
                <a:spcPct val="100000"/>
              </a:lnSpc>
              <a:spcBef>
                <a:spcPts val="5"/>
              </a:spcBef>
              <a:buChar char="-"/>
              <a:tabLst>
                <a:tab pos="105410" algn="l"/>
              </a:tabLst>
            </a:pPr>
            <a:r>
              <a:rPr sz="1400" spc="-20" dirty="0">
                <a:latin typeface="Roboto"/>
                <a:cs typeface="Roboto"/>
              </a:rPr>
              <a:t>BFGS</a:t>
            </a:r>
            <a:endParaRPr sz="1400">
              <a:latin typeface="Roboto"/>
              <a:cs typeface="Roboto"/>
            </a:endParaRPr>
          </a:p>
          <a:p>
            <a:pPr marL="105410" indent="-92710">
              <a:lnSpc>
                <a:spcPct val="100000"/>
              </a:lnSpc>
              <a:buChar char="-"/>
              <a:tabLst>
                <a:tab pos="105410" algn="l"/>
              </a:tabLst>
            </a:pPr>
            <a:r>
              <a:rPr sz="1400" spc="-145" dirty="0">
                <a:latin typeface="Roboto"/>
                <a:cs typeface="Roboto"/>
              </a:rPr>
              <a:t>L-</a:t>
            </a:r>
            <a:r>
              <a:rPr sz="1400" spc="-20" dirty="0">
                <a:latin typeface="Roboto"/>
                <a:cs typeface="Roboto"/>
              </a:rPr>
              <a:t>BFGS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59295" y="1493392"/>
            <a:ext cx="76200" cy="319405"/>
          </a:xfrm>
          <a:custGeom>
            <a:avLst/>
            <a:gdLst/>
            <a:ahLst/>
            <a:cxnLst/>
            <a:rect l="l" t="t" r="r" b="b"/>
            <a:pathLst>
              <a:path w="76200" h="319405">
                <a:moveTo>
                  <a:pt x="33400" y="243078"/>
                </a:moveTo>
                <a:lnTo>
                  <a:pt x="0" y="243078"/>
                </a:lnTo>
                <a:lnTo>
                  <a:pt x="38100" y="319278"/>
                </a:lnTo>
                <a:lnTo>
                  <a:pt x="69850" y="255778"/>
                </a:lnTo>
                <a:lnTo>
                  <a:pt x="33400" y="255778"/>
                </a:lnTo>
                <a:lnTo>
                  <a:pt x="33400" y="243078"/>
                </a:lnTo>
                <a:close/>
              </a:path>
              <a:path w="76200" h="319405">
                <a:moveTo>
                  <a:pt x="42925" y="0"/>
                </a:moveTo>
                <a:lnTo>
                  <a:pt x="33400" y="0"/>
                </a:lnTo>
                <a:lnTo>
                  <a:pt x="33400" y="255778"/>
                </a:lnTo>
                <a:lnTo>
                  <a:pt x="42925" y="255778"/>
                </a:lnTo>
                <a:lnTo>
                  <a:pt x="42925" y="0"/>
                </a:lnTo>
                <a:close/>
              </a:path>
              <a:path w="76200" h="319405">
                <a:moveTo>
                  <a:pt x="76200" y="243078"/>
                </a:moveTo>
                <a:lnTo>
                  <a:pt x="42925" y="243078"/>
                </a:lnTo>
                <a:lnTo>
                  <a:pt x="42925" y="255778"/>
                </a:lnTo>
                <a:lnTo>
                  <a:pt x="69850" y="255778"/>
                </a:lnTo>
                <a:lnTo>
                  <a:pt x="76200" y="243078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648447" y="2714371"/>
            <a:ext cx="11188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" indent="-92710">
              <a:lnSpc>
                <a:spcPct val="100000"/>
              </a:lnSpc>
              <a:spcBef>
                <a:spcPts val="100"/>
              </a:spcBef>
              <a:buChar char="-"/>
              <a:tabLst>
                <a:tab pos="105410" algn="l"/>
              </a:tabLst>
            </a:pPr>
            <a:r>
              <a:rPr sz="1400" dirty="0">
                <a:latin typeface="Roboto"/>
                <a:cs typeface="Roboto"/>
              </a:rPr>
              <a:t>Hill</a:t>
            </a:r>
            <a:r>
              <a:rPr sz="1400" spc="-5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Climbing</a:t>
            </a:r>
            <a:endParaRPr sz="1400">
              <a:latin typeface="Roboto"/>
              <a:cs typeface="Roboto"/>
            </a:endParaRPr>
          </a:p>
          <a:p>
            <a:pPr marL="105410" indent="-92710">
              <a:lnSpc>
                <a:spcPct val="100000"/>
              </a:lnSpc>
              <a:spcBef>
                <a:spcPts val="5"/>
              </a:spcBef>
              <a:buChar char="-"/>
              <a:tabLst>
                <a:tab pos="105410" algn="l"/>
              </a:tabLst>
            </a:pPr>
            <a:r>
              <a:rPr sz="1400" spc="-10" dirty="0">
                <a:latin typeface="Roboto"/>
                <a:cs typeface="Roboto"/>
              </a:rPr>
              <a:t>Genéticos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68565" y="1812582"/>
            <a:ext cx="1334135" cy="83185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525"/>
              </a:spcBef>
            </a:pPr>
            <a:r>
              <a:rPr sz="1400" spc="-10" dirty="0">
                <a:latin typeface="Roboto"/>
                <a:cs typeface="Roboto"/>
              </a:rPr>
              <a:t>Basada</a:t>
            </a:r>
            <a:r>
              <a:rPr sz="1400" spc="-50" dirty="0">
                <a:latin typeface="Roboto"/>
                <a:cs typeface="Roboto"/>
              </a:rPr>
              <a:t> </a:t>
            </a:r>
            <a:r>
              <a:rPr sz="1400" spc="-25" dirty="0">
                <a:latin typeface="Roboto"/>
                <a:cs typeface="Roboto"/>
              </a:rPr>
              <a:t>en</a:t>
            </a:r>
            <a:endParaRPr sz="1400">
              <a:latin typeface="Roboto"/>
              <a:cs typeface="Roboto"/>
            </a:endParaRPr>
          </a:p>
          <a:p>
            <a:pPr marL="27559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Roboto"/>
                <a:cs typeface="Roboto"/>
              </a:rPr>
              <a:t>búsqueda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96506" y="1488694"/>
            <a:ext cx="1638935" cy="346710"/>
          </a:xfrm>
          <a:custGeom>
            <a:avLst/>
            <a:gdLst/>
            <a:ahLst/>
            <a:cxnLst/>
            <a:rect l="l" t="t" r="r" b="b"/>
            <a:pathLst>
              <a:path w="1638934" h="346710">
                <a:moveTo>
                  <a:pt x="1563213" y="314052"/>
                </a:moveTo>
                <a:lnTo>
                  <a:pt x="1556893" y="346709"/>
                </a:lnTo>
                <a:lnTo>
                  <a:pt x="1638935" y="323976"/>
                </a:lnTo>
                <a:lnTo>
                  <a:pt x="1629212" y="316483"/>
                </a:lnTo>
                <a:lnTo>
                  <a:pt x="1575689" y="316483"/>
                </a:lnTo>
                <a:lnTo>
                  <a:pt x="1563213" y="314052"/>
                </a:lnTo>
                <a:close/>
              </a:path>
              <a:path w="1638934" h="346710">
                <a:moveTo>
                  <a:pt x="1565031" y="304662"/>
                </a:moveTo>
                <a:lnTo>
                  <a:pt x="1563213" y="314052"/>
                </a:lnTo>
                <a:lnTo>
                  <a:pt x="1575689" y="316483"/>
                </a:lnTo>
                <a:lnTo>
                  <a:pt x="1577467" y="307085"/>
                </a:lnTo>
                <a:lnTo>
                  <a:pt x="1565031" y="304662"/>
                </a:lnTo>
                <a:close/>
              </a:path>
              <a:path w="1638934" h="346710">
                <a:moveTo>
                  <a:pt x="1571371" y="271906"/>
                </a:moveTo>
                <a:lnTo>
                  <a:pt x="1565031" y="304662"/>
                </a:lnTo>
                <a:lnTo>
                  <a:pt x="1577467" y="307085"/>
                </a:lnTo>
                <a:lnTo>
                  <a:pt x="1575689" y="316483"/>
                </a:lnTo>
                <a:lnTo>
                  <a:pt x="1629212" y="316483"/>
                </a:lnTo>
                <a:lnTo>
                  <a:pt x="1571371" y="271906"/>
                </a:lnTo>
                <a:close/>
              </a:path>
              <a:path w="1638934" h="346710">
                <a:moveTo>
                  <a:pt x="1777" y="0"/>
                </a:moveTo>
                <a:lnTo>
                  <a:pt x="0" y="9397"/>
                </a:lnTo>
                <a:lnTo>
                  <a:pt x="1563213" y="314052"/>
                </a:lnTo>
                <a:lnTo>
                  <a:pt x="1565031" y="304662"/>
                </a:lnTo>
                <a:lnTo>
                  <a:pt x="1777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09622" y="3140661"/>
            <a:ext cx="772160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400" spc="-10" dirty="0">
                <a:latin typeface="Roboto"/>
                <a:cs typeface="Roboto"/>
              </a:rPr>
              <a:t>AdaGrad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Roboto"/>
                <a:cs typeface="Roboto"/>
              </a:rPr>
              <a:t>RMSProp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74189" y="3837533"/>
            <a:ext cx="1137920" cy="319405"/>
          </a:xfrm>
          <a:prstGeom prst="rect">
            <a:avLst/>
          </a:prstGeom>
          <a:ln w="19050">
            <a:solidFill>
              <a:srgbClr val="0E9D57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490"/>
              </a:spcBef>
            </a:pPr>
            <a:r>
              <a:rPr sz="1400" dirty="0">
                <a:latin typeface="Roboto"/>
                <a:cs typeface="Roboto"/>
              </a:rPr>
              <a:t>Adam</a:t>
            </a:r>
            <a:r>
              <a:rPr sz="1400" spc="-2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(2014)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83165" y="3153219"/>
            <a:ext cx="927735" cy="948690"/>
            <a:chOff x="3483165" y="3153219"/>
            <a:chExt cx="927735" cy="948690"/>
          </a:xfrm>
        </p:grpSpPr>
        <p:sp>
          <p:nvSpPr>
            <p:cNvPr id="18" name="object 18"/>
            <p:cNvSpPr/>
            <p:nvPr/>
          </p:nvSpPr>
          <p:spPr>
            <a:xfrm>
              <a:off x="3487928" y="3157982"/>
              <a:ext cx="175895" cy="939165"/>
            </a:xfrm>
            <a:custGeom>
              <a:avLst/>
              <a:gdLst/>
              <a:ahLst/>
              <a:cxnLst/>
              <a:rect l="l" t="t" r="r" b="b"/>
              <a:pathLst>
                <a:path w="175895" h="939164">
                  <a:moveTo>
                    <a:pt x="0" y="0"/>
                  </a:moveTo>
                  <a:lnTo>
                    <a:pt x="34178" y="6887"/>
                  </a:lnTo>
                  <a:lnTo>
                    <a:pt x="62071" y="25669"/>
                  </a:lnTo>
                  <a:lnTo>
                    <a:pt x="80867" y="53524"/>
                  </a:lnTo>
                  <a:lnTo>
                    <a:pt x="87757" y="87630"/>
                  </a:lnTo>
                  <a:lnTo>
                    <a:pt x="87757" y="381634"/>
                  </a:lnTo>
                  <a:lnTo>
                    <a:pt x="94646" y="415813"/>
                  </a:lnTo>
                  <a:lnTo>
                    <a:pt x="113442" y="443706"/>
                  </a:lnTo>
                  <a:lnTo>
                    <a:pt x="141335" y="462502"/>
                  </a:lnTo>
                  <a:lnTo>
                    <a:pt x="175513" y="469392"/>
                  </a:lnTo>
                  <a:lnTo>
                    <a:pt x="141335" y="476299"/>
                  </a:lnTo>
                  <a:lnTo>
                    <a:pt x="113442" y="495125"/>
                  </a:lnTo>
                  <a:lnTo>
                    <a:pt x="94646" y="523023"/>
                  </a:lnTo>
                  <a:lnTo>
                    <a:pt x="87757" y="557149"/>
                  </a:lnTo>
                  <a:lnTo>
                    <a:pt x="87757" y="851192"/>
                  </a:lnTo>
                  <a:lnTo>
                    <a:pt x="80867" y="885347"/>
                  </a:lnTo>
                  <a:lnTo>
                    <a:pt x="62071" y="913237"/>
                  </a:lnTo>
                  <a:lnTo>
                    <a:pt x="34178" y="932041"/>
                  </a:lnTo>
                  <a:lnTo>
                    <a:pt x="0" y="938936"/>
                  </a:lnTo>
                </a:path>
              </a:pathLst>
            </a:custGeom>
            <a:ln w="9525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63442" y="3322447"/>
              <a:ext cx="747395" cy="311785"/>
            </a:xfrm>
            <a:custGeom>
              <a:avLst/>
              <a:gdLst/>
              <a:ahLst/>
              <a:cxnLst/>
              <a:rect l="l" t="t" r="r" b="b"/>
              <a:pathLst>
                <a:path w="747395" h="311785">
                  <a:moveTo>
                    <a:pt x="56387" y="241172"/>
                  </a:moveTo>
                  <a:lnTo>
                    <a:pt x="0" y="304926"/>
                  </a:lnTo>
                  <a:lnTo>
                    <a:pt x="84962" y="311784"/>
                  </a:lnTo>
                  <a:lnTo>
                    <a:pt x="74375" y="285622"/>
                  </a:lnTo>
                  <a:lnTo>
                    <a:pt x="60706" y="285622"/>
                  </a:lnTo>
                  <a:lnTo>
                    <a:pt x="57150" y="276859"/>
                  </a:lnTo>
                  <a:lnTo>
                    <a:pt x="68910" y="272117"/>
                  </a:lnTo>
                  <a:lnTo>
                    <a:pt x="56387" y="241172"/>
                  </a:lnTo>
                  <a:close/>
                </a:path>
                <a:path w="747395" h="311785">
                  <a:moveTo>
                    <a:pt x="68910" y="272117"/>
                  </a:moveTo>
                  <a:lnTo>
                    <a:pt x="57150" y="276859"/>
                  </a:lnTo>
                  <a:lnTo>
                    <a:pt x="60706" y="285622"/>
                  </a:lnTo>
                  <a:lnTo>
                    <a:pt x="72458" y="280883"/>
                  </a:lnTo>
                  <a:lnTo>
                    <a:pt x="68910" y="272117"/>
                  </a:lnTo>
                  <a:close/>
                </a:path>
                <a:path w="747395" h="311785">
                  <a:moveTo>
                    <a:pt x="72458" y="280883"/>
                  </a:moveTo>
                  <a:lnTo>
                    <a:pt x="60706" y="285622"/>
                  </a:lnTo>
                  <a:lnTo>
                    <a:pt x="74375" y="285622"/>
                  </a:lnTo>
                  <a:lnTo>
                    <a:pt x="72458" y="280883"/>
                  </a:lnTo>
                  <a:close/>
                </a:path>
                <a:path w="747395" h="311785">
                  <a:moveTo>
                    <a:pt x="743712" y="0"/>
                  </a:moveTo>
                  <a:lnTo>
                    <a:pt x="68910" y="272117"/>
                  </a:lnTo>
                  <a:lnTo>
                    <a:pt x="72458" y="280883"/>
                  </a:lnTo>
                  <a:lnTo>
                    <a:pt x="747268" y="8762"/>
                  </a:lnTo>
                  <a:lnTo>
                    <a:pt x="743712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Optimización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1483" y="1395793"/>
          <a:ext cx="8870949" cy="2838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0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5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79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41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GD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SGD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Mini-Batch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91440" marR="57721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Cálculo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gradiente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91440" marR="13652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 actualizaciones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W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10" dirty="0">
                          <a:latin typeface="Roboto"/>
                          <a:cs typeface="Roboto"/>
                        </a:rPr>
                        <a:t>n_epoch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198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0400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400" spc="-10" dirty="0">
                          <a:latin typeface="Roboto"/>
                          <a:cs typeface="Roboto"/>
                        </a:rPr>
                        <a:t>n_epoch</a:t>
                      </a:r>
                      <a:r>
                        <a:rPr sz="1400" spc="-2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latin typeface="Roboto"/>
                          <a:cs typeface="Roboto"/>
                        </a:rPr>
                        <a:t>x</a:t>
                      </a:r>
                      <a:r>
                        <a:rPr sz="1400" spc="-2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50" dirty="0">
                          <a:latin typeface="Roboto"/>
                          <a:cs typeface="Roboto"/>
                        </a:rPr>
                        <a:t>n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198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n_epoch</a:t>
                      </a:r>
                      <a:r>
                        <a:rPr sz="13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13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13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/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b)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91440" marR="51943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Cantidad</a:t>
                      </a:r>
                      <a:r>
                        <a:rPr sz="12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memoria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315" marR="688340" indent="-426720">
                        <a:lnSpc>
                          <a:spcPts val="1540"/>
                        </a:lnSpc>
                        <a:spcBef>
                          <a:spcPts val="83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Mucha</a:t>
                      </a:r>
                      <a:r>
                        <a:rPr sz="13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memoria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O(n)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966469" marR="421005" indent="-536575">
                        <a:lnSpc>
                          <a:spcPts val="1540"/>
                        </a:lnSpc>
                        <a:spcBef>
                          <a:spcPts val="83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Muy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poca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memoria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O(1)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054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8840" marR="87820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Intermedio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O(b)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965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Velocidad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cálculos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53440" marR="845185" indent="25400">
                        <a:lnSpc>
                          <a:spcPts val="1540"/>
                        </a:lnSpc>
                        <a:spcBef>
                          <a:spcPts val="76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Muy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rápido O(n_epoch)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503555" marR="504190" indent="37465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Intermedio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O(n_epoch</a:t>
                      </a:r>
                      <a:r>
                        <a:rPr sz="13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/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 b))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763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715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DB4437"/>
                      </a:solidFill>
                      <a:prstDash val="solid"/>
                    </a:lnR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2729" marR="125730" indent="2133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Muy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lento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O(n_epoch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3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5" dirty="0">
                          <a:latin typeface="Arial MT"/>
                          <a:cs typeface="Arial MT"/>
                        </a:rPr>
                        <a:t>n)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DB4437"/>
                      </a:solidFill>
                      <a:prstDash val="solid"/>
                    </a:lnL>
                    <a:lnR w="19050">
                      <a:solidFill>
                        <a:srgbClr val="DB4437"/>
                      </a:solidFill>
                      <a:prstDash val="solid"/>
                    </a:lnR>
                    <a:lnT w="19050">
                      <a:solidFill>
                        <a:srgbClr val="DB4437"/>
                      </a:solidFill>
                      <a:prstDash val="solid"/>
                    </a:lnT>
                    <a:lnB w="9525">
                      <a:solidFill>
                        <a:srgbClr val="DB44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DB4437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66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0182" y="1835657"/>
            <a:ext cx="2425065" cy="5372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5475" y="1943036"/>
            <a:ext cx="1862201" cy="3222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37197" y="1835657"/>
            <a:ext cx="2407920" cy="5372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22601" y="666750"/>
            <a:ext cx="4098925" cy="5365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123058" y="3069348"/>
            <a:ext cx="1420495" cy="469900"/>
          </a:xfrm>
          <a:custGeom>
            <a:avLst/>
            <a:gdLst/>
            <a:ahLst/>
            <a:cxnLst/>
            <a:rect l="l" t="t" r="r" b="b"/>
            <a:pathLst>
              <a:path w="1420495" h="469900">
                <a:moveTo>
                  <a:pt x="0" y="469506"/>
                </a:moveTo>
                <a:lnTo>
                  <a:pt x="1420241" y="469506"/>
                </a:lnTo>
                <a:lnTo>
                  <a:pt x="1420241" y="0"/>
                </a:lnTo>
                <a:lnTo>
                  <a:pt x="0" y="0"/>
                </a:lnTo>
                <a:lnTo>
                  <a:pt x="0" y="469506"/>
                </a:lnTo>
                <a:close/>
              </a:path>
            </a:pathLst>
          </a:custGeom>
          <a:ln w="19050">
            <a:solidFill>
              <a:srgbClr val="DB44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7DEB6-02AA-3B3F-F305-1F7BEEDB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1083729-6DFE-19E3-9BF0-1F96F3352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40893"/>
            <a:ext cx="5211445" cy="338554"/>
          </a:xfrm>
        </p:spPr>
        <p:txBody>
          <a:bodyPr/>
          <a:lstStyle/>
          <a:p>
            <a:r>
              <a:rPr lang="es-ES" dirty="0"/>
              <a:t>Optimizadores</a:t>
            </a:r>
            <a:endParaRPr lang="es-PE" dirty="0"/>
          </a:p>
        </p:txBody>
      </p:sp>
      <p:pic>
        <p:nvPicPr>
          <p:cNvPr id="1026" name="Picture 2" descr="Adam vs SGD : What are the optimizers in neural network and when do we use?  | by Austin Lee | Medium">
            <a:extLst>
              <a:ext uri="{FF2B5EF4-FFF2-40B4-BE49-F238E27FC236}">
                <a16:creationId xmlns:a16="http://schemas.microsoft.com/office/drawing/2014/main" id="{4D60D91D-C786-E23B-1106-DA77E30ED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77" y="1233904"/>
            <a:ext cx="848084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4102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Optimización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1957" y="763015"/>
            <a:ext cx="12915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35915" algn="l"/>
              </a:tabLst>
            </a:pPr>
            <a:r>
              <a:rPr sz="1500" b="1" spc="-25" dirty="0">
                <a:latin typeface="Roboto"/>
                <a:cs typeface="Roboto"/>
              </a:rPr>
              <a:t>Mini-</a:t>
            </a:r>
            <a:r>
              <a:rPr sz="1500" b="1" spc="-10" dirty="0">
                <a:latin typeface="Roboto"/>
                <a:cs typeface="Roboto"/>
              </a:rPr>
              <a:t>Batch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6425" y="1179702"/>
            <a:ext cx="4010025" cy="2660650"/>
            <a:chOff x="406425" y="1179702"/>
            <a:chExt cx="4010025" cy="26606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425" y="1179702"/>
              <a:ext cx="4010025" cy="26606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33751" y="1551177"/>
              <a:ext cx="1360805" cy="76200"/>
            </a:xfrm>
            <a:custGeom>
              <a:avLst/>
              <a:gdLst/>
              <a:ahLst/>
              <a:cxnLst/>
              <a:rect l="l" t="t" r="r" b="b"/>
              <a:pathLst>
                <a:path w="1360804" h="76200">
                  <a:moveTo>
                    <a:pt x="1284224" y="0"/>
                  </a:moveTo>
                  <a:lnTo>
                    <a:pt x="1284224" y="76200"/>
                  </a:lnTo>
                  <a:lnTo>
                    <a:pt x="1351026" y="42799"/>
                  </a:lnTo>
                  <a:lnTo>
                    <a:pt x="1296924" y="42799"/>
                  </a:lnTo>
                  <a:lnTo>
                    <a:pt x="1296924" y="33274"/>
                  </a:lnTo>
                  <a:lnTo>
                    <a:pt x="1350772" y="33274"/>
                  </a:lnTo>
                  <a:lnTo>
                    <a:pt x="1284224" y="0"/>
                  </a:lnTo>
                  <a:close/>
                </a:path>
                <a:path w="1360804" h="76200">
                  <a:moveTo>
                    <a:pt x="1284224" y="33274"/>
                  </a:moveTo>
                  <a:lnTo>
                    <a:pt x="0" y="33274"/>
                  </a:lnTo>
                  <a:lnTo>
                    <a:pt x="0" y="42799"/>
                  </a:lnTo>
                  <a:lnTo>
                    <a:pt x="1284224" y="42799"/>
                  </a:lnTo>
                  <a:lnTo>
                    <a:pt x="1284224" y="33274"/>
                  </a:lnTo>
                  <a:close/>
                </a:path>
                <a:path w="1360804" h="76200">
                  <a:moveTo>
                    <a:pt x="1350772" y="33274"/>
                  </a:moveTo>
                  <a:lnTo>
                    <a:pt x="1296924" y="33274"/>
                  </a:lnTo>
                  <a:lnTo>
                    <a:pt x="1296924" y="42799"/>
                  </a:lnTo>
                  <a:lnTo>
                    <a:pt x="1351026" y="42799"/>
                  </a:lnTo>
                  <a:lnTo>
                    <a:pt x="1360424" y="38100"/>
                  </a:lnTo>
                  <a:lnTo>
                    <a:pt x="1350772" y="33274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6631" y="1523237"/>
              <a:ext cx="98425" cy="1270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918465" y="1459230"/>
            <a:ext cx="10185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Roboto"/>
                <a:cs typeface="Roboto"/>
              </a:rPr>
              <a:t>batches:</a:t>
            </a:r>
            <a:r>
              <a:rPr sz="1400" spc="-65" dirty="0">
                <a:latin typeface="Roboto"/>
                <a:cs typeface="Roboto"/>
              </a:rPr>
              <a:t> </a:t>
            </a:r>
            <a:r>
              <a:rPr sz="1400" spc="-25" dirty="0">
                <a:latin typeface="Roboto"/>
                <a:cs typeface="Roboto"/>
              </a:rPr>
              <a:t>n/b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01970" y="1457706"/>
            <a:ext cx="3248660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DB4437"/>
                </a:solidFill>
                <a:latin typeface="Roboto"/>
                <a:cs typeface="Roboto"/>
              </a:rPr>
              <a:t>-</a:t>
            </a:r>
            <a:r>
              <a:rPr sz="1700" b="1" spc="-1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700" b="1" spc="-20" dirty="0">
                <a:solidFill>
                  <a:srgbClr val="DB4437"/>
                </a:solidFill>
                <a:latin typeface="Roboto"/>
                <a:cs typeface="Roboto"/>
              </a:rPr>
              <a:t>¿Cufintas</a:t>
            </a:r>
            <a:r>
              <a:rPr sz="1700" b="1" spc="-4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700" b="1" dirty="0">
                <a:solidFill>
                  <a:srgbClr val="DB4437"/>
                </a:solidFill>
                <a:latin typeface="Roboto"/>
                <a:cs typeface="Roboto"/>
              </a:rPr>
              <a:t>veces</a:t>
            </a:r>
            <a:r>
              <a:rPr sz="1700" b="1" spc="-4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700" b="1" dirty="0">
                <a:solidFill>
                  <a:srgbClr val="DB4437"/>
                </a:solidFill>
                <a:latin typeface="Roboto"/>
                <a:cs typeface="Roboto"/>
              </a:rPr>
              <a:t>actualizo</a:t>
            </a:r>
            <a:r>
              <a:rPr sz="1700" b="1" spc="-4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700" b="1" dirty="0">
                <a:solidFill>
                  <a:srgbClr val="DB4437"/>
                </a:solidFill>
                <a:latin typeface="Roboto"/>
                <a:cs typeface="Roboto"/>
              </a:rPr>
              <a:t>W</a:t>
            </a:r>
            <a:r>
              <a:rPr sz="1700" b="1" spc="-3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700" b="1" spc="-25" dirty="0">
                <a:solidFill>
                  <a:srgbClr val="DB4437"/>
                </a:solidFill>
                <a:latin typeface="Roboto"/>
                <a:cs typeface="Roboto"/>
              </a:rPr>
              <a:t>por</a:t>
            </a: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tabLst>
                <a:tab pos="848994" algn="l"/>
              </a:tabLst>
            </a:pPr>
            <a:r>
              <a:rPr sz="1700" b="1" spc="-10" dirty="0">
                <a:solidFill>
                  <a:srgbClr val="DB4437"/>
                </a:solidFill>
                <a:latin typeface="Roboto"/>
                <a:cs typeface="Roboto"/>
              </a:rPr>
              <a:t>epoch?</a:t>
            </a:r>
            <a:r>
              <a:rPr sz="1700" b="1" dirty="0">
                <a:solidFill>
                  <a:srgbClr val="DB4437"/>
                </a:solidFill>
                <a:latin typeface="Roboto"/>
                <a:cs typeface="Roboto"/>
              </a:rPr>
              <a:t>	</a:t>
            </a:r>
            <a:r>
              <a:rPr sz="2550" b="1" baseline="3267" dirty="0">
                <a:solidFill>
                  <a:srgbClr val="DB4437"/>
                </a:solidFill>
                <a:latin typeface="Roboto"/>
                <a:cs typeface="Roboto"/>
              </a:rPr>
              <a:t>n/b</a:t>
            </a:r>
            <a:r>
              <a:rPr sz="2550" b="1" spc="-150" baseline="3267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2550" b="1" spc="-15" baseline="3267" dirty="0">
                <a:solidFill>
                  <a:srgbClr val="DB4437"/>
                </a:solidFill>
                <a:latin typeface="Roboto"/>
                <a:cs typeface="Roboto"/>
              </a:rPr>
              <a:t>veces</a:t>
            </a:r>
            <a:endParaRPr sz="2550" baseline="3267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51372" y="2224786"/>
            <a:ext cx="3164205" cy="133985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139700">
              <a:lnSpc>
                <a:spcPts val="1920"/>
              </a:lnSpc>
              <a:spcBef>
                <a:spcPts val="265"/>
              </a:spcBef>
              <a:buChar char="-"/>
              <a:tabLst>
                <a:tab pos="152400" algn="l"/>
              </a:tabLst>
            </a:pPr>
            <a:r>
              <a:rPr sz="1700" b="1" spc="-20" dirty="0">
                <a:solidFill>
                  <a:srgbClr val="DB4437"/>
                </a:solidFill>
                <a:latin typeface="Roboto"/>
                <a:cs typeface="Roboto"/>
              </a:rPr>
              <a:t>¿Cufintas</a:t>
            </a:r>
            <a:r>
              <a:rPr sz="1700" b="1" spc="-3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700" b="1" dirty="0">
                <a:solidFill>
                  <a:srgbClr val="DB4437"/>
                </a:solidFill>
                <a:latin typeface="Roboto"/>
                <a:cs typeface="Roboto"/>
              </a:rPr>
              <a:t>veces</a:t>
            </a:r>
            <a:r>
              <a:rPr sz="1700" b="1" spc="-3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700" b="1" dirty="0">
                <a:solidFill>
                  <a:srgbClr val="DB4437"/>
                </a:solidFill>
                <a:latin typeface="Roboto"/>
                <a:cs typeface="Roboto"/>
              </a:rPr>
              <a:t>actualizo</a:t>
            </a:r>
            <a:r>
              <a:rPr sz="1700" b="1" spc="-3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700" b="1" dirty="0">
                <a:solidFill>
                  <a:srgbClr val="DB4437"/>
                </a:solidFill>
                <a:latin typeface="Roboto"/>
                <a:cs typeface="Roboto"/>
              </a:rPr>
              <a:t>W</a:t>
            </a:r>
            <a:r>
              <a:rPr sz="1700" b="1" spc="-1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700" b="1" spc="-25" dirty="0">
                <a:solidFill>
                  <a:srgbClr val="DB4437"/>
                </a:solidFill>
                <a:latin typeface="Roboto"/>
                <a:cs typeface="Roboto"/>
              </a:rPr>
              <a:t>en </a:t>
            </a:r>
            <a:r>
              <a:rPr sz="2550" b="1" baseline="-3267" dirty="0">
                <a:solidFill>
                  <a:srgbClr val="DB4437"/>
                </a:solidFill>
                <a:latin typeface="Roboto"/>
                <a:cs typeface="Roboto"/>
              </a:rPr>
              <a:t>total?</a:t>
            </a:r>
            <a:r>
              <a:rPr sz="2550" b="1" spc="652" baseline="-3267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700" b="1" spc="-10" dirty="0">
                <a:solidFill>
                  <a:srgbClr val="DB4437"/>
                </a:solidFill>
                <a:latin typeface="Roboto"/>
                <a:cs typeface="Roboto"/>
              </a:rPr>
              <a:t>n_epoch*n/b</a:t>
            </a: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Roboto"/>
              <a:buChar char="-"/>
            </a:pPr>
            <a:endParaRPr sz="1700">
              <a:latin typeface="Roboto"/>
              <a:cs typeface="Roboto"/>
            </a:endParaRPr>
          </a:p>
          <a:p>
            <a:pPr marL="159385" marR="1024255" indent="-147320">
              <a:lnSpc>
                <a:spcPts val="2150"/>
              </a:lnSpc>
              <a:buChar char="-"/>
              <a:tabLst>
                <a:tab pos="461645" algn="l"/>
              </a:tabLst>
            </a:pPr>
            <a:r>
              <a:rPr sz="1800" b="1" spc="-10" dirty="0">
                <a:solidFill>
                  <a:srgbClr val="DB4437"/>
                </a:solidFill>
                <a:latin typeface="Roboto"/>
                <a:cs typeface="Roboto"/>
              </a:rPr>
              <a:t>¿Hiperparfimetros? 	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n_epoch,</a:t>
            </a:r>
            <a:r>
              <a:rPr sz="1800" b="1" spc="-4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b,</a:t>
            </a:r>
            <a:r>
              <a:rPr sz="1800" b="1" spc="-2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DB4437"/>
                </a:solidFill>
                <a:latin typeface="Cambria Math"/>
                <a:cs typeface="Cambria Math"/>
              </a:rPr>
              <a:t>𝛼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25265" y="1851532"/>
            <a:ext cx="1428115" cy="190500"/>
            <a:chOff x="3525265" y="1851532"/>
            <a:chExt cx="1428115" cy="190500"/>
          </a:xfrm>
        </p:grpSpPr>
        <p:sp>
          <p:nvSpPr>
            <p:cNvPr id="13" name="object 13"/>
            <p:cNvSpPr/>
            <p:nvPr/>
          </p:nvSpPr>
          <p:spPr>
            <a:xfrm>
              <a:off x="3525265" y="1908555"/>
              <a:ext cx="541020" cy="76200"/>
            </a:xfrm>
            <a:custGeom>
              <a:avLst/>
              <a:gdLst/>
              <a:ahLst/>
              <a:cxnLst/>
              <a:rect l="l" t="t" r="r" b="b"/>
              <a:pathLst>
                <a:path w="541020" h="76200">
                  <a:moveTo>
                    <a:pt x="464438" y="0"/>
                  </a:moveTo>
                  <a:lnTo>
                    <a:pt x="464438" y="76200"/>
                  </a:lnTo>
                  <a:lnTo>
                    <a:pt x="530987" y="42925"/>
                  </a:lnTo>
                  <a:lnTo>
                    <a:pt x="477138" y="42925"/>
                  </a:lnTo>
                  <a:lnTo>
                    <a:pt x="477138" y="33400"/>
                  </a:lnTo>
                  <a:lnTo>
                    <a:pt x="531240" y="33400"/>
                  </a:lnTo>
                  <a:lnTo>
                    <a:pt x="464438" y="0"/>
                  </a:lnTo>
                  <a:close/>
                </a:path>
                <a:path w="541020" h="76200">
                  <a:moveTo>
                    <a:pt x="464438" y="33400"/>
                  </a:moveTo>
                  <a:lnTo>
                    <a:pt x="0" y="33400"/>
                  </a:lnTo>
                  <a:lnTo>
                    <a:pt x="0" y="42925"/>
                  </a:lnTo>
                  <a:lnTo>
                    <a:pt x="464438" y="42925"/>
                  </a:lnTo>
                  <a:lnTo>
                    <a:pt x="464438" y="33400"/>
                  </a:lnTo>
                  <a:close/>
                </a:path>
                <a:path w="541020" h="76200">
                  <a:moveTo>
                    <a:pt x="531240" y="33400"/>
                  </a:moveTo>
                  <a:lnTo>
                    <a:pt x="477138" y="33400"/>
                  </a:lnTo>
                  <a:lnTo>
                    <a:pt x="477138" y="42925"/>
                  </a:lnTo>
                  <a:lnTo>
                    <a:pt x="530987" y="42925"/>
                  </a:lnTo>
                  <a:lnTo>
                    <a:pt x="540638" y="38100"/>
                  </a:lnTo>
                  <a:lnTo>
                    <a:pt x="531240" y="33400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91304" y="1851532"/>
              <a:ext cx="862012" cy="1903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Optimización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1957" y="763015"/>
            <a:ext cx="37287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35915" algn="l"/>
              </a:tabLst>
            </a:pPr>
            <a:r>
              <a:rPr sz="1500" b="1" spc="-25" dirty="0">
                <a:latin typeface="Roboto"/>
                <a:cs typeface="Roboto"/>
              </a:rPr>
              <a:t>Mini-</a:t>
            </a:r>
            <a:r>
              <a:rPr sz="1500" b="1" dirty="0">
                <a:latin typeface="Roboto"/>
                <a:cs typeface="Roboto"/>
              </a:rPr>
              <a:t>Batch</a:t>
            </a:r>
            <a:r>
              <a:rPr sz="1500" b="1" spc="5" dirty="0">
                <a:latin typeface="Roboto"/>
                <a:cs typeface="Roboto"/>
              </a:rPr>
              <a:t> </a:t>
            </a:r>
            <a:r>
              <a:rPr sz="1500" b="1" dirty="0">
                <a:latin typeface="Roboto"/>
                <a:cs typeface="Roboto"/>
              </a:rPr>
              <a:t>+</a:t>
            </a:r>
            <a:r>
              <a:rPr sz="1500" b="1" spc="-10" dirty="0">
                <a:latin typeface="Roboto"/>
                <a:cs typeface="Roboto"/>
              </a:rPr>
              <a:t> </a:t>
            </a:r>
            <a:r>
              <a:rPr sz="1500" b="1" dirty="0">
                <a:latin typeface="Roboto"/>
                <a:cs typeface="Roboto"/>
              </a:rPr>
              <a:t>Momento de</a:t>
            </a:r>
            <a:r>
              <a:rPr sz="1500" b="1" spc="5" dirty="0">
                <a:latin typeface="Roboto"/>
                <a:cs typeface="Roboto"/>
              </a:rPr>
              <a:t> </a:t>
            </a:r>
            <a:r>
              <a:rPr sz="1500" b="1" dirty="0">
                <a:latin typeface="Roboto"/>
                <a:cs typeface="Roboto"/>
              </a:rPr>
              <a:t>primer </a:t>
            </a:r>
            <a:r>
              <a:rPr sz="1500" b="1" spc="-10" dirty="0">
                <a:latin typeface="Roboto"/>
                <a:cs typeface="Roboto"/>
              </a:rPr>
              <a:t>orden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05205" y="1231900"/>
            <a:ext cx="8209280" cy="2978150"/>
            <a:chOff x="705205" y="1231900"/>
            <a:chExt cx="8209280" cy="29781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205" y="1231900"/>
              <a:ext cx="4010025" cy="29781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1505" y="3509556"/>
              <a:ext cx="4492625" cy="5238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47263" y="3733419"/>
              <a:ext cx="1174750" cy="76200"/>
            </a:xfrm>
            <a:custGeom>
              <a:avLst/>
              <a:gdLst/>
              <a:ahLst/>
              <a:cxnLst/>
              <a:rect l="l" t="t" r="r" b="b"/>
              <a:pathLst>
                <a:path w="1174750" h="76200">
                  <a:moveTo>
                    <a:pt x="1098041" y="0"/>
                  </a:moveTo>
                  <a:lnTo>
                    <a:pt x="1098041" y="76199"/>
                  </a:lnTo>
                  <a:lnTo>
                    <a:pt x="1164843" y="42798"/>
                  </a:lnTo>
                  <a:lnTo>
                    <a:pt x="1110741" y="42798"/>
                  </a:lnTo>
                  <a:lnTo>
                    <a:pt x="1110741" y="33273"/>
                  </a:lnTo>
                  <a:lnTo>
                    <a:pt x="1164589" y="33273"/>
                  </a:lnTo>
                  <a:lnTo>
                    <a:pt x="1098041" y="0"/>
                  </a:lnTo>
                  <a:close/>
                </a:path>
                <a:path w="1174750" h="76200">
                  <a:moveTo>
                    <a:pt x="1098041" y="33273"/>
                  </a:moveTo>
                  <a:lnTo>
                    <a:pt x="0" y="33273"/>
                  </a:lnTo>
                  <a:lnTo>
                    <a:pt x="0" y="42798"/>
                  </a:lnTo>
                  <a:lnTo>
                    <a:pt x="1098041" y="42798"/>
                  </a:lnTo>
                  <a:lnTo>
                    <a:pt x="1098041" y="33273"/>
                  </a:lnTo>
                  <a:close/>
                </a:path>
                <a:path w="1174750" h="76200">
                  <a:moveTo>
                    <a:pt x="1164589" y="33273"/>
                  </a:moveTo>
                  <a:lnTo>
                    <a:pt x="1110741" y="33273"/>
                  </a:lnTo>
                  <a:lnTo>
                    <a:pt x="1110741" y="42798"/>
                  </a:lnTo>
                  <a:lnTo>
                    <a:pt x="1164843" y="42798"/>
                  </a:lnTo>
                  <a:lnTo>
                    <a:pt x="1174241" y="38099"/>
                  </a:lnTo>
                  <a:lnTo>
                    <a:pt x="1164589" y="33273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83132" y="4405985"/>
            <a:ext cx="3837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-</a:t>
            </a:r>
            <a:r>
              <a:rPr sz="1800" b="1" spc="-6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¿Hiperparfimetros?</a:t>
            </a:r>
            <a:r>
              <a:rPr sz="1800" b="1" spc="28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n_epoch,</a:t>
            </a:r>
            <a:r>
              <a:rPr sz="1800" b="1" spc="-7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b,</a:t>
            </a:r>
            <a:r>
              <a:rPr sz="1800" b="1" spc="-6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ξ,</a:t>
            </a:r>
            <a:r>
              <a:rPr sz="1800" b="1" spc="-5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DB4437"/>
                </a:solidFill>
                <a:latin typeface="Cambria Math"/>
                <a:cs typeface="Cambria Math"/>
              </a:rPr>
              <a:t>𝛼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Optimización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4285" y="4383749"/>
            <a:ext cx="683526" cy="68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1957" y="763015"/>
            <a:ext cx="1471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23215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35915" algn="l"/>
              </a:tabLst>
            </a:pPr>
            <a:r>
              <a:rPr sz="1500" b="1" dirty="0">
                <a:latin typeface="Roboto"/>
                <a:cs typeface="Roboto"/>
              </a:rPr>
              <a:t>Adam</a:t>
            </a:r>
            <a:r>
              <a:rPr sz="1500" b="1" spc="30" dirty="0">
                <a:latin typeface="Roboto"/>
                <a:cs typeface="Roboto"/>
              </a:rPr>
              <a:t> </a:t>
            </a:r>
            <a:r>
              <a:rPr sz="1500" b="1" spc="-10" dirty="0">
                <a:latin typeface="Roboto"/>
                <a:cs typeface="Roboto"/>
              </a:rPr>
              <a:t>(2014)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673" y="1033564"/>
            <a:ext cx="3787775" cy="37465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44594" y="1147648"/>
            <a:ext cx="43110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-</a:t>
            </a:r>
            <a:r>
              <a:rPr sz="1800" b="1" spc="-6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¿Hiperparfimetros?</a:t>
            </a:r>
            <a:r>
              <a:rPr sz="1800" b="1" spc="27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n_epoch,</a:t>
            </a:r>
            <a:r>
              <a:rPr sz="1800" b="1" spc="-6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b,</a:t>
            </a:r>
            <a:r>
              <a:rPr sz="1800" b="1" spc="-55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p</a:t>
            </a:r>
            <a:r>
              <a:rPr sz="1800" b="1" baseline="-20833" dirty="0">
                <a:solidFill>
                  <a:srgbClr val="DB4437"/>
                </a:solidFill>
                <a:latin typeface="Roboto"/>
                <a:cs typeface="Roboto"/>
              </a:rPr>
              <a:t>1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,</a:t>
            </a:r>
            <a:r>
              <a:rPr sz="1800" b="1" spc="-6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p</a:t>
            </a:r>
            <a:r>
              <a:rPr sz="1800" b="1" baseline="-20833" dirty="0">
                <a:solidFill>
                  <a:srgbClr val="DB4437"/>
                </a:solidFill>
                <a:latin typeface="Roboto"/>
                <a:cs typeface="Roboto"/>
              </a:rPr>
              <a:t>2</a:t>
            </a:r>
            <a:r>
              <a:rPr sz="1800" b="1" dirty="0">
                <a:solidFill>
                  <a:srgbClr val="DB4437"/>
                </a:solidFill>
                <a:latin typeface="Roboto"/>
                <a:cs typeface="Roboto"/>
              </a:rPr>
              <a:t>,</a:t>
            </a:r>
            <a:r>
              <a:rPr sz="1800" b="1" spc="-60" dirty="0">
                <a:solidFill>
                  <a:srgbClr val="DB4437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DB4437"/>
                </a:solidFill>
                <a:latin typeface="Cambria Math"/>
                <a:cs typeface="Cambria Math"/>
              </a:rPr>
              <a:t>𝛼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94861" y="3364484"/>
            <a:ext cx="833119" cy="882015"/>
            <a:chOff x="3594861" y="3364484"/>
            <a:chExt cx="833119" cy="882015"/>
          </a:xfrm>
        </p:grpSpPr>
        <p:sp>
          <p:nvSpPr>
            <p:cNvPr id="8" name="object 8"/>
            <p:cNvSpPr/>
            <p:nvPr/>
          </p:nvSpPr>
          <p:spPr>
            <a:xfrm>
              <a:off x="3594861" y="3364484"/>
              <a:ext cx="775970" cy="76200"/>
            </a:xfrm>
            <a:custGeom>
              <a:avLst/>
              <a:gdLst/>
              <a:ahLst/>
              <a:cxnLst/>
              <a:rect l="l" t="t" r="r" b="b"/>
              <a:pathLst>
                <a:path w="775970" h="76200">
                  <a:moveTo>
                    <a:pt x="699642" y="0"/>
                  </a:moveTo>
                  <a:lnTo>
                    <a:pt x="699642" y="76200"/>
                  </a:lnTo>
                  <a:lnTo>
                    <a:pt x="766190" y="42926"/>
                  </a:lnTo>
                  <a:lnTo>
                    <a:pt x="712342" y="42926"/>
                  </a:lnTo>
                  <a:lnTo>
                    <a:pt x="712342" y="33401"/>
                  </a:lnTo>
                  <a:lnTo>
                    <a:pt x="766445" y="33401"/>
                  </a:lnTo>
                  <a:lnTo>
                    <a:pt x="699642" y="0"/>
                  </a:lnTo>
                  <a:close/>
                </a:path>
                <a:path w="775970" h="76200">
                  <a:moveTo>
                    <a:pt x="699642" y="33401"/>
                  </a:moveTo>
                  <a:lnTo>
                    <a:pt x="0" y="33401"/>
                  </a:lnTo>
                  <a:lnTo>
                    <a:pt x="0" y="42926"/>
                  </a:lnTo>
                  <a:lnTo>
                    <a:pt x="699642" y="42926"/>
                  </a:lnTo>
                  <a:lnTo>
                    <a:pt x="699642" y="33401"/>
                  </a:lnTo>
                  <a:close/>
                </a:path>
                <a:path w="775970" h="76200">
                  <a:moveTo>
                    <a:pt x="766445" y="33401"/>
                  </a:moveTo>
                  <a:lnTo>
                    <a:pt x="712342" y="33401"/>
                  </a:lnTo>
                  <a:lnTo>
                    <a:pt x="712342" y="42926"/>
                  </a:lnTo>
                  <a:lnTo>
                    <a:pt x="766190" y="42926"/>
                  </a:lnTo>
                  <a:lnTo>
                    <a:pt x="775842" y="38100"/>
                  </a:lnTo>
                  <a:lnTo>
                    <a:pt x="766445" y="33401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0275" y="3733800"/>
              <a:ext cx="187198" cy="76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50944" y="3898976"/>
              <a:ext cx="474980" cy="347345"/>
            </a:xfrm>
            <a:custGeom>
              <a:avLst/>
              <a:gdLst/>
              <a:ahLst/>
              <a:cxnLst/>
              <a:rect l="l" t="t" r="r" b="b"/>
              <a:pathLst>
                <a:path w="474979" h="347345">
                  <a:moveTo>
                    <a:pt x="410507" y="306116"/>
                  </a:moveTo>
                  <a:lnTo>
                    <a:pt x="390905" y="333070"/>
                  </a:lnTo>
                  <a:lnTo>
                    <a:pt x="474979" y="347052"/>
                  </a:lnTo>
                  <a:lnTo>
                    <a:pt x="457602" y="313563"/>
                  </a:lnTo>
                  <a:lnTo>
                    <a:pt x="420750" y="313563"/>
                  </a:lnTo>
                  <a:lnTo>
                    <a:pt x="410507" y="306116"/>
                  </a:lnTo>
                  <a:close/>
                </a:path>
                <a:path w="474979" h="347345">
                  <a:moveTo>
                    <a:pt x="416101" y="298424"/>
                  </a:moveTo>
                  <a:lnTo>
                    <a:pt x="410507" y="306116"/>
                  </a:lnTo>
                  <a:lnTo>
                    <a:pt x="420750" y="313563"/>
                  </a:lnTo>
                  <a:lnTo>
                    <a:pt x="426338" y="305866"/>
                  </a:lnTo>
                  <a:lnTo>
                    <a:pt x="416101" y="298424"/>
                  </a:lnTo>
                  <a:close/>
                </a:path>
                <a:path w="474979" h="347345">
                  <a:moveTo>
                    <a:pt x="435737" y="271424"/>
                  </a:moveTo>
                  <a:lnTo>
                    <a:pt x="416101" y="298424"/>
                  </a:lnTo>
                  <a:lnTo>
                    <a:pt x="426338" y="305866"/>
                  </a:lnTo>
                  <a:lnTo>
                    <a:pt x="420750" y="313563"/>
                  </a:lnTo>
                  <a:lnTo>
                    <a:pt x="457602" y="313563"/>
                  </a:lnTo>
                  <a:lnTo>
                    <a:pt x="435737" y="271424"/>
                  </a:lnTo>
                  <a:close/>
                </a:path>
                <a:path w="474979" h="347345">
                  <a:moveTo>
                    <a:pt x="5587" y="0"/>
                  </a:moveTo>
                  <a:lnTo>
                    <a:pt x="0" y="7696"/>
                  </a:lnTo>
                  <a:lnTo>
                    <a:pt x="410507" y="306116"/>
                  </a:lnTo>
                  <a:lnTo>
                    <a:pt x="416101" y="298424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DB44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07078" y="3290061"/>
            <a:ext cx="1616710" cy="124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Roboto"/>
                <a:cs typeface="Roboto"/>
              </a:rPr>
              <a:t>Momento</a:t>
            </a:r>
            <a:r>
              <a:rPr sz="1200" spc="-45" dirty="0">
                <a:latin typeface="Roboto"/>
                <a:cs typeface="Roboto"/>
              </a:rPr>
              <a:t> </a:t>
            </a:r>
            <a:r>
              <a:rPr sz="1200" dirty="0">
                <a:latin typeface="Roboto"/>
                <a:cs typeface="Roboto"/>
              </a:rPr>
              <a:t>1</a:t>
            </a:r>
            <a:r>
              <a:rPr sz="1200" baseline="24305" dirty="0">
                <a:latin typeface="Roboto"/>
                <a:cs typeface="Roboto"/>
              </a:rPr>
              <a:t>er</a:t>
            </a:r>
            <a:r>
              <a:rPr sz="1200" spc="97" baseline="24305" dirty="0">
                <a:latin typeface="Roboto"/>
                <a:cs typeface="Roboto"/>
              </a:rPr>
              <a:t> </a:t>
            </a:r>
            <a:r>
              <a:rPr sz="1200" spc="-10" dirty="0">
                <a:latin typeface="Roboto"/>
                <a:cs typeface="Roboto"/>
              </a:rPr>
              <a:t>orden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Roboto"/>
              <a:cs typeface="Roboto"/>
            </a:endParaRPr>
          </a:p>
          <a:p>
            <a:pPr marL="212090">
              <a:lnSpc>
                <a:spcPct val="100000"/>
              </a:lnSpc>
            </a:pPr>
            <a:r>
              <a:rPr sz="1200" dirty="0">
                <a:latin typeface="Roboto"/>
                <a:cs typeface="Roboto"/>
              </a:rPr>
              <a:t>Momento</a:t>
            </a:r>
            <a:r>
              <a:rPr sz="1200" spc="-40" dirty="0">
                <a:latin typeface="Roboto"/>
                <a:cs typeface="Roboto"/>
              </a:rPr>
              <a:t> </a:t>
            </a:r>
            <a:r>
              <a:rPr sz="1200" dirty="0">
                <a:latin typeface="Roboto"/>
                <a:cs typeface="Roboto"/>
              </a:rPr>
              <a:t>2</a:t>
            </a:r>
            <a:r>
              <a:rPr sz="1200" baseline="24305" dirty="0">
                <a:latin typeface="Roboto"/>
                <a:cs typeface="Roboto"/>
              </a:rPr>
              <a:t>do</a:t>
            </a:r>
            <a:r>
              <a:rPr sz="1200" spc="97" baseline="24305" dirty="0">
                <a:latin typeface="Roboto"/>
                <a:cs typeface="Roboto"/>
              </a:rPr>
              <a:t> </a:t>
            </a:r>
            <a:r>
              <a:rPr sz="1200" spc="-10" dirty="0">
                <a:latin typeface="Roboto"/>
                <a:cs typeface="Roboto"/>
              </a:rPr>
              <a:t>orden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200">
              <a:latin typeface="Roboto"/>
              <a:cs typeface="Roboto"/>
            </a:endParaRPr>
          </a:p>
          <a:p>
            <a:pPr marL="25400" marR="17780">
              <a:lnSpc>
                <a:spcPct val="100000"/>
              </a:lnSpc>
            </a:pPr>
            <a:r>
              <a:rPr sz="1200" spc="-10" dirty="0">
                <a:latin typeface="Roboto"/>
                <a:cs typeface="Roboto"/>
              </a:rPr>
              <a:t>Hadamard</a:t>
            </a:r>
            <a:r>
              <a:rPr sz="1200" spc="-35" dirty="0">
                <a:latin typeface="Roboto"/>
                <a:cs typeface="Roboto"/>
              </a:rPr>
              <a:t> </a:t>
            </a:r>
            <a:r>
              <a:rPr sz="1200" spc="-10" dirty="0">
                <a:latin typeface="Roboto"/>
                <a:cs typeface="Roboto"/>
              </a:rPr>
              <a:t>product </a:t>
            </a:r>
            <a:r>
              <a:rPr sz="1200" spc="-40" dirty="0">
                <a:latin typeface="Roboto"/>
                <a:cs typeface="Roboto"/>
              </a:rPr>
              <a:t>(element-</a:t>
            </a:r>
            <a:r>
              <a:rPr sz="1200" dirty="0">
                <a:latin typeface="Roboto"/>
                <a:cs typeface="Roboto"/>
              </a:rPr>
              <a:t>wise</a:t>
            </a:r>
            <a:r>
              <a:rPr sz="1200" spc="50" dirty="0">
                <a:latin typeface="Roboto"/>
                <a:cs typeface="Roboto"/>
              </a:rPr>
              <a:t> </a:t>
            </a:r>
            <a:r>
              <a:rPr sz="1200" spc="-10" dirty="0">
                <a:latin typeface="Roboto"/>
                <a:cs typeface="Roboto"/>
              </a:rPr>
              <a:t>product)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967</Words>
  <Application>Microsoft Office PowerPoint</Application>
  <PresentationFormat>Presentación en pantalla (16:9)</PresentationFormat>
  <Paragraphs>306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Arial</vt:lpstr>
      <vt:lpstr>Arial MT</vt:lpstr>
      <vt:lpstr>Cambria Math</vt:lpstr>
      <vt:lpstr>Microsoft Sans Serif</vt:lpstr>
      <vt:lpstr>Roboto</vt:lpstr>
      <vt:lpstr>Times New Roman</vt:lpstr>
      <vt:lpstr>Office Theme</vt:lpstr>
      <vt:lpstr>Aprendizaje Profundo Facultad de Ingeniería Universidad de Buenos Aires</vt:lpstr>
      <vt:lpstr>Red neuronal feedforward con p layers</vt:lpstr>
      <vt:lpstr>Backpropagation</vt:lpstr>
      <vt:lpstr>Backpropagation </vt:lpstr>
      <vt:lpstr>Backpropagation </vt:lpstr>
      <vt:lpstr>Backpropagation </vt:lpstr>
      <vt:lpstr>Funciones de activación</vt:lpstr>
      <vt:lpstr>Funciones de activación</vt:lpstr>
      <vt:lpstr>Funciones de activación</vt:lpstr>
      <vt:lpstr>Funciones de activación</vt:lpstr>
      <vt:lpstr>Funciones de activación</vt:lpstr>
      <vt:lpstr>Funciones de activación</vt:lpstr>
      <vt:lpstr>Funciones de activación</vt:lpstr>
      <vt:lpstr>Funciones de activación</vt:lpstr>
      <vt:lpstr>Funciones de salida Loss function</vt:lpstr>
      <vt:lpstr>Funciones de salida + Loss function</vt:lpstr>
      <vt:lpstr>Funciones de salida + Loss function</vt:lpstr>
      <vt:lpstr>Funciones de salida + Loss function</vt:lpstr>
      <vt:lpstr>Optimización</vt:lpstr>
      <vt:lpstr>Optimización</vt:lpstr>
      <vt:lpstr>Optimización</vt:lpstr>
      <vt:lpstr>Optimizadores</vt:lpstr>
      <vt:lpstr>Optimización</vt:lpstr>
      <vt:lpstr>Optimización</vt:lpstr>
      <vt:lpstr>Optimización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Gerardo Vilcamiza Espinoza</cp:lastModifiedBy>
  <cp:revision>10</cp:revision>
  <dcterms:created xsi:type="dcterms:W3CDTF">2025-10-30T08:21:35Z</dcterms:created>
  <dcterms:modified xsi:type="dcterms:W3CDTF">2025-10-30T17:41:04Z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2025-10-30T00:00:00Z</vt:filetime>
  </property>
  <property fmtid="{D5CDD505-2E9C-101B-9397-08002B2CF9AE}" pid="5" name="MSIP_Label_c15ead3b-a842-409e-8059-3e3468c48585_ActionId">
    <vt:lpwstr>bc5fef3a-99bf-4a25-b25c-3fbfb9348259</vt:lpwstr>
  </property>
  <property fmtid="{D5CDD505-2E9C-101B-9397-08002B2CF9AE}" pid="6" name="MSIP_Label_c15ead3b-a842-409e-8059-3e3468c48585_ContentBits">
    <vt:lpwstr>2</vt:lpwstr>
  </property>
  <property fmtid="{D5CDD505-2E9C-101B-9397-08002B2CF9AE}" pid="7" name="MSIP_Label_c15ead3b-a842-409e-8059-3e3468c48585_Enabled">
    <vt:lpwstr>true</vt:lpwstr>
  </property>
  <property fmtid="{D5CDD505-2E9C-101B-9397-08002B2CF9AE}" pid="8" name="MSIP_Label_c15ead3b-a842-409e-8059-3e3468c48585_Method">
    <vt:lpwstr>Standard</vt:lpwstr>
  </property>
  <property fmtid="{D5CDD505-2E9C-101B-9397-08002B2CF9AE}" pid="9" name="MSIP_Label_c15ead3b-a842-409e-8059-3e3468c48585_SiteId">
    <vt:lpwstr>5d93ebcc-f769-4380-8b7e-289fc972da1b</vt:lpwstr>
  </property>
  <property fmtid="{D5CDD505-2E9C-101B-9397-08002B2CF9AE}" pid="10" name="Producer">
    <vt:lpwstr>Microsoft® PowerPoint® for Microsoft 365</vt:lpwstr>
  </property>
</Properties>
</file>